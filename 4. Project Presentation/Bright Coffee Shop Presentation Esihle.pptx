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Assistant" pitchFamily="2" charset="-79"/>
      <p:regular r:id="rId13"/>
      <p:bold r:id="rId14"/>
    </p:embeddedFont>
    <p:embeddedFont>
      <p:font typeface="Assistant Bold" charset="-79"/>
      <p:regular r:id="rId15"/>
    </p:embeddedFont>
    <p:embeddedFont>
      <p:font typeface="Assistant Semi-Bold" panose="020B0604020202020204" charset="-79"/>
      <p:regular r:id="rId16"/>
    </p:embeddedFont>
    <p:embeddedFont>
      <p:font typeface="Copperplate Gothic 32 AB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29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DA_Excel%20Analysis.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Principal\Downloads\DA_Excel%20Analysis.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incipal\Downloads\DA_Excel%20Analysis.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Principal\Downloads\DA_Excel%20Analysis..xlsx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incipal\Downloads\DA_Excel%20Analysis.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DA_Excel%20Analysis.%20copy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[DA_Excel Analysis. copy.xlsx]Sheet1!PivotTable4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Revenue Analysis|  Total Revenue by </a:t>
            </a:r>
            <a:r>
              <a:rPr lang="en-US" dirty="0" err="1"/>
              <a:t>MonthName</a:t>
            </a:r>
            <a:endParaRPr lang="en-US" dirty="0"/>
          </a:p>
          <a:p>
            <a:pPr>
              <a:defRPr/>
            </a:pPr>
            <a:r>
              <a:rPr lang="en-US" dirty="0"/>
              <a:t>from January to June </a:t>
            </a:r>
          </a:p>
        </c:rich>
      </c:tx>
      <c:layout>
        <c:manualLayout>
          <c:xMode val="edge"/>
          <c:yMode val="edge"/>
          <c:x val="0.26396941089245202"/>
          <c:y val="0.10184506298746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</c:pivotFmt>
      <c:pivotFmt>
        <c:idx val="2"/>
        <c:spPr>
          <a:solidFill>
            <a:schemeClr val="accent3">
              <a:lumMod val="75000"/>
            </a:schemeClr>
          </a:solidFill>
          <a:ln>
            <a:noFill/>
          </a:ln>
          <a:effectLst/>
          <a:sp3d/>
        </c:spPr>
      </c:pivotFmt>
      <c:pivotFmt>
        <c:idx val="3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4"/>
        <c:spPr>
          <a:solidFill>
            <a:schemeClr val="accent5">
              <a:lumMod val="75000"/>
            </a:schemeClr>
          </a:solidFill>
          <a:ln>
            <a:noFill/>
          </a:ln>
          <a:effectLst/>
          <a:sp3d/>
        </c:spPr>
      </c:pivotFmt>
      <c:pivotFmt>
        <c:idx val="5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8"/>
        <c:spPr>
          <a:solidFill>
            <a:schemeClr val="accent5">
              <a:lumMod val="75000"/>
            </a:schemeClr>
          </a:solidFill>
          <a:ln>
            <a:noFill/>
          </a:ln>
          <a:effectLst/>
          <a:sp3d/>
        </c:spPr>
      </c:pivotFmt>
      <c:pivotFmt>
        <c:idx val="9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0"/>
        <c:spPr>
          <a:solidFill>
            <a:schemeClr val="accent3">
              <a:lumMod val="75000"/>
            </a:schemeClr>
          </a:solidFill>
          <a:ln>
            <a:noFill/>
          </a:ln>
          <a:effectLst/>
          <a:sp3d/>
        </c:spPr>
      </c:pivotFmt>
      <c:pivotFmt>
        <c:idx val="11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4"/>
        <c:spPr>
          <a:solidFill>
            <a:schemeClr val="accent5">
              <a:lumMod val="75000"/>
            </a:schemeClr>
          </a:solidFill>
          <a:ln>
            <a:noFill/>
          </a:ln>
          <a:effectLst/>
          <a:sp3d/>
        </c:spPr>
      </c:pivotFmt>
      <c:pivotFmt>
        <c:idx val="1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6"/>
        <c:spPr>
          <a:solidFill>
            <a:schemeClr val="accent3">
              <a:lumMod val="75000"/>
            </a:schemeClr>
          </a:solidFill>
          <a:ln>
            <a:noFill/>
          </a:ln>
          <a:effectLst/>
          <a:sp3d/>
        </c:spPr>
      </c:pivotFmt>
      <c:pivotFmt>
        <c:idx val="17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6.7051619292180148E-2"/>
          <c:y val="0.16621926808749748"/>
          <c:w val="0.80622562210206394"/>
          <c:h val="0.54911115519129161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48BD-4851-BE46-5550963F437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48BD-4851-BE46-5550963F437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48BD-4851-BE46-5550963F437C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48BD-4851-BE46-5550963F437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9-48BD-4851-BE46-5550963F437C}"/>
              </c:ext>
            </c:extLst>
          </c:dPt>
          <c:cat>
            <c:strRef>
              <c:f>Sheet1!$A$4:$A$11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(blank)</c:v>
                </c:pt>
              </c:strCache>
            </c:strRef>
          </c:cat>
          <c:val>
            <c:numRef>
              <c:f>Sheet1!$B$4:$B$11</c:f>
              <c:numCache>
                <c:formatCode>General</c:formatCode>
                <c:ptCount val="7"/>
                <c:pt idx="0">
                  <c:v>81677.739999999278</c:v>
                </c:pt>
                <c:pt idx="1">
                  <c:v>76145.18999999958</c:v>
                </c:pt>
                <c:pt idx="2">
                  <c:v>98834.680000000008</c:v>
                </c:pt>
                <c:pt idx="3">
                  <c:v>118941.08000000106</c:v>
                </c:pt>
                <c:pt idx="4">
                  <c:v>156727.76000000449</c:v>
                </c:pt>
                <c:pt idx="5">
                  <c:v>166485.88000000533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08-2649-83BB-A2766C02A2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76463599"/>
        <c:axId val="1476455919"/>
        <c:axId val="1166705839"/>
      </c:bar3DChart>
      <c:catAx>
        <c:axId val="14764635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6455919"/>
        <c:crosses val="autoZero"/>
        <c:auto val="1"/>
        <c:lblAlgn val="ctr"/>
        <c:lblOffset val="100"/>
        <c:noMultiLvlLbl val="0"/>
      </c:catAx>
      <c:valAx>
        <c:axId val="1476455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6463599"/>
        <c:crosses val="autoZero"/>
        <c:crossBetween val="between"/>
      </c:valAx>
      <c:serAx>
        <c:axId val="1166705839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6455919"/>
        <c:crosses val="autoZero"/>
      </c:ser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[DA_Excel Analysis..xlsx]Sheet1!PivotTable9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>
                <a:solidFill>
                  <a:schemeClr val="tx1"/>
                </a:solidFill>
              </a:rPr>
              <a:t>Revenue Analysis|</a:t>
            </a:r>
            <a:r>
              <a:rPr lang="en-US"/>
              <a:t> </a:t>
            </a:r>
            <a:r>
              <a:rPr lang="en-US" b="1"/>
              <a:t>Sum of (transaction_qty * unit_price)</a:t>
            </a:r>
          </a:p>
          <a:p>
            <a:pPr>
              <a:defRPr/>
            </a:pPr>
            <a:r>
              <a:rPr lang="en-US" b="1"/>
              <a:t>Total sum of Revenue</a:t>
            </a:r>
            <a:r>
              <a:rPr lang="en-US" b="1" baseline="0"/>
              <a:t> by unit price across different store locations.</a:t>
            </a:r>
            <a:endParaRPr lang="en-US" b="1"/>
          </a:p>
          <a:p>
            <a:pPr>
              <a:defRPr/>
            </a:pPr>
            <a:endParaRPr lang="en-US" b="1"/>
          </a:p>
          <a:p>
            <a:pPr>
              <a:defRPr/>
            </a:pP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1744194736074657"/>
          <c:y val="0.12401234607007099"/>
          <c:w val="0.48300169510061242"/>
          <c:h val="0.86091129669310051"/>
        </c:manualLayout>
      </c:layout>
      <c:pieChart>
        <c:varyColors val="1"/>
        <c:ser>
          <c:idx val="0"/>
          <c:order val="0"/>
          <c:tx>
            <c:strRef>
              <c:f>Sheet1!$B$30</c:f>
              <c:strCache>
                <c:ptCount val="1"/>
                <c:pt idx="0">
                  <c:v>Sum of (transaction_qty * unit_price)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D6-41BE-BD76-52E3A36812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D6-41BE-BD76-52E3A36812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9D6-41BE-BD76-52E3A36812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9D6-41BE-BD76-52E3A36812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Sheet1!$A$31:$A$35</c:f>
              <c:strCache>
                <c:ptCount val="4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  <c:pt idx="3">
                  <c:v>(blank)</c:v>
                </c:pt>
              </c:strCache>
            </c:strRef>
          </c:cat>
          <c:val>
            <c:numRef>
              <c:f>Sheet1!$B$31:$B$35</c:f>
              <c:numCache>
                <c:formatCode>General</c:formatCode>
                <c:ptCount val="4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D6-41BE-BD76-52E3A368123B}"/>
            </c:ext>
          </c:extLst>
        </c:ser>
        <c:ser>
          <c:idx val="1"/>
          <c:order val="1"/>
          <c:tx>
            <c:strRef>
              <c:f>Sheet1!$C$30</c:f>
              <c:strCache>
                <c:ptCount val="1"/>
                <c:pt idx="0">
                  <c:v>Sum of 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C9D6-41BE-BD76-52E3A36812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C9D6-41BE-BD76-52E3A36812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C9D6-41BE-BD76-52E3A36812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C9D6-41BE-BD76-52E3A36812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Sheet1!$A$31:$A$35</c:f>
              <c:strCache>
                <c:ptCount val="4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  <c:pt idx="3">
                  <c:v>(blank)</c:v>
                </c:pt>
              </c:strCache>
            </c:strRef>
          </c:cat>
          <c:val>
            <c:numRef>
              <c:f>Sheet1!$C$31:$C$35</c:f>
              <c:numCache>
                <c:formatCode>General</c:formatCode>
                <c:ptCount val="4"/>
                <c:pt idx="0">
                  <c:v>232243.91000000975</c:v>
                </c:pt>
                <c:pt idx="1">
                  <c:v>236511.17000000973</c:v>
                </c:pt>
                <c:pt idx="2">
                  <c:v>230057.25000000748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C9D6-41BE-BD76-52E3A368123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117262685914264"/>
          <c:y val="0.37653499463705198"/>
          <c:w val="0.13188292869641294"/>
          <c:h val="0.275409433428051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[DA_Excel Analysis..xlsx]Sheet1!PivotTable1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</a:t>
            </a:r>
            <a:r>
              <a:rPr lang="en-US" baseline="0"/>
              <a:t> bucket by revenue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Sheet1!$B$216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Sheet1!$A$217:$A$220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Sheet1!$B$217:$B$220</c:f>
              <c:numCache>
                <c:formatCode>_-[$R-1C09]* #,##0.00_-;\-[$R-1C09]* #,##0.00_-;_-[$R-1C09]* "-"??_-;_-@_-</c:formatCode>
                <c:ptCount val="3"/>
                <c:pt idx="0">
                  <c:v>204720.83000000624</c:v>
                </c:pt>
                <c:pt idx="1">
                  <c:v>105802.82999999942</c:v>
                </c:pt>
                <c:pt idx="2">
                  <c:v>388288.66999999422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98-4014-9F7F-7E8102FBCE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7543423"/>
        <c:axId val="147545343"/>
      </c:barChart>
      <c:catAx>
        <c:axId val="14754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545343"/>
        <c:crosses val="autoZero"/>
        <c:auto val="1"/>
        <c:lblAlgn val="ctr"/>
        <c:lblOffset val="100"/>
        <c:noMultiLvlLbl val="0"/>
      </c:catAx>
      <c:valAx>
        <c:axId val="147545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R-1C09]* #,##0.00_-;\-[$R-1C09]* #,##0.00_-;_-[$R-1C09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543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[DA_Excel Analysis. copy.xlsx]Sheet1!PivotTable13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Analysis|  Revenue By Day</a:t>
            </a:r>
          </a:p>
          <a:p>
            <a:pPr>
              <a:defRPr/>
            </a:pPr>
            <a:r>
              <a:rPr lang="en-US"/>
              <a:t>Analysing trend of total revenue by Day Name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40000"/>
              <a:lumOff val="6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"/>
        <c:spPr>
          <a:solidFill>
            <a:schemeClr val="tx2">
              <a:lumMod val="90000"/>
              <a:lumOff val="1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>
              <a:lumMod val="20000"/>
              <a:lumOff val="8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tx2">
              <a:lumMod val="75000"/>
              <a:lumOff val="2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rgbClr val="00B0F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4">
              <a:tint val="46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4">
              <a:shade val="76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4">
              <a:shade val="4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4">
              <a:tint val="46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tx2">
              <a:lumMod val="75000"/>
              <a:lumOff val="2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>
              <a:lumMod val="40000"/>
              <a:lumOff val="6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rgbClr val="00B0F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4"/>
        <c:spPr>
          <a:solidFill>
            <a:schemeClr val="tx2">
              <a:lumMod val="90000"/>
              <a:lumOff val="1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4">
              <a:shade val="76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>
              <a:lumMod val="20000"/>
              <a:lumOff val="8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7"/>
        <c:spPr>
          <a:solidFill>
            <a:schemeClr val="accent4">
              <a:shade val="4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8"/>
        <c:spPr>
          <a:solidFill>
            <a:schemeClr val="accent4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4">
              <a:tint val="46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0"/>
        <c:spPr>
          <a:solidFill>
            <a:schemeClr val="tx2">
              <a:lumMod val="75000"/>
              <a:lumOff val="2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1"/>
        <c:spPr>
          <a:solidFill>
            <a:schemeClr val="accent1">
              <a:lumMod val="40000"/>
              <a:lumOff val="6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2"/>
        <c:spPr>
          <a:solidFill>
            <a:srgbClr val="00B0F0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3"/>
        <c:spPr>
          <a:solidFill>
            <a:schemeClr val="tx2">
              <a:lumMod val="90000"/>
              <a:lumOff val="1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4"/>
        <c:spPr>
          <a:solidFill>
            <a:schemeClr val="accent4">
              <a:shade val="76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5"/>
        <c:spPr>
          <a:solidFill>
            <a:schemeClr val="accent1">
              <a:lumMod val="20000"/>
              <a:lumOff val="80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26"/>
        <c:spPr>
          <a:solidFill>
            <a:schemeClr val="accent4">
              <a:shade val="45000"/>
            </a:schemeClr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Sheet1!$B$110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tint val="4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FEF-498D-80F7-EC5CDE5ED13D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FEF-498D-80F7-EC5CDE5ED13D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FEF-498D-80F7-EC5CDE5ED13D}"/>
              </c:ext>
            </c:extLst>
          </c:dPt>
          <c:dPt>
            <c:idx val="3"/>
            <c:bubble3D val="0"/>
            <c:spPr>
              <a:solidFill>
                <a:srgbClr val="00B0F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FEF-498D-80F7-EC5CDE5ED13D}"/>
              </c:ext>
            </c:extLst>
          </c:dPt>
          <c:dPt>
            <c:idx val="4"/>
            <c:bubble3D val="0"/>
            <c:spPr>
              <a:solidFill>
                <a:schemeClr val="tx2">
                  <a:lumMod val="90000"/>
                  <a:lumOff val="1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FEF-498D-80F7-EC5CDE5ED13D}"/>
              </c:ext>
            </c:extLst>
          </c:dPt>
          <c:dPt>
            <c:idx val="5"/>
            <c:bubble3D val="0"/>
            <c:spPr>
              <a:solidFill>
                <a:schemeClr val="accent4">
                  <a:shade val="7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1FEF-498D-80F7-EC5CDE5ED13D}"/>
              </c:ext>
            </c:extLst>
          </c:dPt>
          <c:dPt>
            <c:idx val="6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1FEF-498D-80F7-EC5CDE5ED13D}"/>
              </c:ext>
            </c:extLst>
          </c:dPt>
          <c:dPt>
            <c:idx val="7"/>
            <c:bubble3D val="0"/>
            <c:spPr>
              <a:solidFill>
                <a:schemeClr val="accent4">
                  <a:shade val="4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1FEF-498D-80F7-EC5CDE5ED1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Sheet1!$A$111:$A$119</c:f>
              <c:strCache>
                <c:ptCount val="8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  <c:pt idx="7">
                  <c:v>(blank)</c:v>
                </c:pt>
              </c:strCache>
            </c:strRef>
          </c:cat>
          <c:val>
            <c:numRef>
              <c:f>Sheet1!$B$111:$B$119</c:f>
              <c:numCache>
                <c:formatCode>General</c:formatCode>
                <c:ptCount val="8"/>
                <c:pt idx="0">
                  <c:v>98330.309999999808</c:v>
                </c:pt>
                <c:pt idx="1">
                  <c:v>101677.27999999988</c:v>
                </c:pt>
                <c:pt idx="2">
                  <c:v>99455.939999999944</c:v>
                </c:pt>
                <c:pt idx="3">
                  <c:v>100313.54000000046</c:v>
                </c:pt>
                <c:pt idx="4">
                  <c:v>100767.77999999965</c:v>
                </c:pt>
                <c:pt idx="5">
                  <c:v>101373.0000000002</c:v>
                </c:pt>
                <c:pt idx="6">
                  <c:v>96894.48000000036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F-8945-892E-2E5133167B0B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[DA_Excel Analysis..xlsx]Sheet1!PivotTable16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REvenue</a:t>
            </a:r>
            <a:r>
              <a:rPr lang="en-US" baseline="0">
                <a:solidFill>
                  <a:schemeClr val="tx1"/>
                </a:solidFill>
              </a:rPr>
              <a:t> analysis| Total sales by store</a:t>
            </a:r>
          </a:p>
          <a:p>
            <a:pPr>
              <a:defRPr/>
            </a:pPr>
            <a:r>
              <a:rPr lang="en-US" sz="1200" baseline="0"/>
              <a:t>Analysing sales trend across different stores </a:t>
            </a:r>
            <a:endParaRPr lang="en-US" sz="1200"/>
          </a:p>
        </c:rich>
      </c:tx>
      <c:layout>
        <c:manualLayout>
          <c:xMode val="edge"/>
          <c:yMode val="edge"/>
          <c:x val="0.25121092738745926"/>
          <c:y val="8.063975850436647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Sheet1!$B$168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01D-4093-8556-1EB7DE7EDB0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01D-4093-8556-1EB7DE7EDB0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01D-4093-8556-1EB7DE7EDB0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301D-4093-8556-1EB7DE7EDB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Sheet1!$A$169:$A$173</c:f>
              <c:strCache>
                <c:ptCount val="4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  <c:pt idx="3">
                  <c:v>(blank)</c:v>
                </c:pt>
              </c:strCache>
            </c:strRef>
          </c:cat>
          <c:val>
            <c:numRef>
              <c:f>Sheet1!$B$169:$B$173</c:f>
              <c:numCache>
                <c:formatCode>General</c:formatCode>
                <c:ptCount val="4"/>
                <c:pt idx="0">
                  <c:v>70991</c:v>
                </c:pt>
                <c:pt idx="1">
                  <c:v>71737</c:v>
                </c:pt>
                <c:pt idx="2">
                  <c:v>71742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1D-4093-8556-1EB7DE7EDB0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[DA_Excel Analysis. copy.xlsx]Sheet1!PivotTable14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Analysis| Revenue by Product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p3d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p3d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  <a:sp3d/>
        </c:spPr>
      </c:pivotFmt>
      <c:pivotFmt>
        <c:idx val="8"/>
        <c:spPr>
          <a:solidFill>
            <a:srgbClr val="FF0000"/>
          </a:solidFill>
          <a:ln>
            <a:noFill/>
          </a:ln>
          <a:effectLst/>
          <a:sp3d/>
        </c:spPr>
      </c:pivotFmt>
      <c:pivotFmt>
        <c:idx val="9"/>
        <c:spPr>
          <a:solidFill>
            <a:schemeClr val="accent6">
              <a:lumMod val="50000"/>
            </a:schemeClr>
          </a:solidFill>
          <a:ln>
            <a:noFill/>
          </a:ln>
          <a:effectLst/>
          <a:sp3d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50000"/>
            </a:schemeClr>
          </a:solidFill>
          <a:ln>
            <a:noFill/>
          </a:ln>
          <a:effectLst/>
          <a:sp3d/>
        </c:spPr>
      </c:pivotFmt>
      <c:pivotFmt>
        <c:idx val="12"/>
        <c:spPr>
          <a:solidFill>
            <a:srgbClr val="FF0000"/>
          </a:solidFill>
          <a:ln>
            <a:noFill/>
          </a:ln>
          <a:effectLst/>
          <a:sp3d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50000"/>
            </a:schemeClr>
          </a:solidFill>
          <a:ln>
            <a:noFill/>
          </a:ln>
          <a:effectLst/>
          <a:sp3d/>
        </c:spPr>
      </c:pivotFmt>
      <c:pivotFmt>
        <c:idx val="15"/>
        <c:spPr>
          <a:solidFill>
            <a:srgbClr val="FF0000"/>
          </a:solidFill>
          <a:ln>
            <a:noFill/>
          </a:ln>
          <a:effectLst/>
          <a:sp3d/>
        </c:spP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8596087440473878E-2"/>
          <c:y val="9.5099810092400955E-2"/>
          <c:w val="0.84644650245485364"/>
          <c:h val="0.65352160339720611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Sheet1!$B$195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D980-4B46-AD60-1FA8CFEF14EB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D980-4B46-AD60-1FA8CFEF14EB}"/>
              </c:ext>
            </c:extLst>
          </c:dPt>
          <c:cat>
            <c:strRef>
              <c:f>Sheet1!$A$196:$A$206</c:f>
              <c:strCache>
                <c:ptCount val="10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  <c:pt idx="9">
                  <c:v>(blank)</c:v>
                </c:pt>
              </c:strCache>
            </c:strRef>
          </c:cat>
          <c:val>
            <c:numRef>
              <c:f>Sheet1!$B$196:$B$206</c:f>
              <c:numCache>
                <c:formatCode>General</c:formatCode>
                <c:ptCount val="10"/>
                <c:pt idx="0">
                  <c:v>82315.640000000029</c:v>
                </c:pt>
                <c:pt idx="1">
                  <c:v>13607</c:v>
                </c:pt>
                <c:pt idx="2">
                  <c:v>269952.4500000191</c:v>
                </c:pt>
                <c:pt idx="3">
                  <c:v>40085.249999999985</c:v>
                </c:pt>
                <c:pt idx="4">
                  <c:v>72416</c:v>
                </c:pt>
                <c:pt idx="5">
                  <c:v>8408.8000000008742</c:v>
                </c:pt>
                <c:pt idx="6">
                  <c:v>11213.600000000089</c:v>
                </c:pt>
                <c:pt idx="7">
                  <c:v>4407.6399999999885</c:v>
                </c:pt>
                <c:pt idx="8">
                  <c:v>196405.95000000976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95-E945-965B-2D22454B4E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25208464"/>
        <c:axId val="1925215184"/>
        <c:axId val="0"/>
      </c:bar3DChart>
      <c:catAx>
        <c:axId val="1925208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5215184"/>
        <c:crosses val="autoZero"/>
        <c:auto val="1"/>
        <c:lblAlgn val="ctr"/>
        <c:lblOffset val="100"/>
        <c:noMultiLvlLbl val="0"/>
      </c:catAx>
      <c:valAx>
        <c:axId val="1925215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5208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[DA_Excel Analysis..xlsx]Sheet1!PivotTable11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ysClr val="windowText" lastClr="000000"/>
                </a:solidFill>
              </a:rPr>
              <a:t>R</a:t>
            </a:r>
            <a:r>
              <a:rPr lang="en-US" sz="1400">
                <a:solidFill>
                  <a:sysClr val="windowText" lastClr="000000"/>
                </a:solidFill>
              </a:rPr>
              <a:t>evenue</a:t>
            </a:r>
            <a:r>
              <a:rPr lang="en-US" sz="1400" baseline="0">
                <a:solidFill>
                  <a:sysClr val="windowText" lastClr="000000"/>
                </a:solidFill>
              </a:rPr>
              <a:t> analysis</a:t>
            </a:r>
            <a:r>
              <a:rPr lang="en-US" sz="1600" baseline="0"/>
              <a:t>| </a:t>
            </a:r>
            <a:r>
              <a:rPr lang="en-US" sz="1100" baseline="0"/>
              <a:t>Revenue by time </a:t>
            </a:r>
            <a:endParaRPr lang="en-US" sz="1100"/>
          </a:p>
        </c:rich>
      </c:tx>
      <c:layout>
        <c:manualLayout>
          <c:xMode val="edge"/>
          <c:yMode val="edge"/>
          <c:x val="0.37059413560472054"/>
          <c:y val="7.45207534835720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Sheet1!$B$136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Sheet1!$A$137:$A$153</c:f>
              <c:strCache>
                <c:ptCount val="16"/>
                <c:pt idx="0">
                  <c:v>&lt;3/23/2026</c:v>
                </c:pt>
                <c:pt idx="1">
                  <c:v>6 AM</c:v>
                </c:pt>
                <c:pt idx="2">
                  <c:v>7 AM</c:v>
                </c:pt>
                <c:pt idx="3">
                  <c:v>8 AM</c:v>
                </c:pt>
                <c:pt idx="4">
                  <c:v>9 AM</c:v>
                </c:pt>
                <c:pt idx="5">
                  <c:v>10 AM</c:v>
                </c:pt>
                <c:pt idx="6">
                  <c:v>11 AM</c:v>
                </c:pt>
                <c:pt idx="7">
                  <c:v>12 PM</c:v>
                </c:pt>
                <c:pt idx="8">
                  <c:v>1 PM</c:v>
                </c:pt>
                <c:pt idx="9">
                  <c:v>2 PM</c:v>
                </c:pt>
                <c:pt idx="10">
                  <c:v>3 PM</c:v>
                </c:pt>
                <c:pt idx="11">
                  <c:v>4 PM</c:v>
                </c:pt>
                <c:pt idx="12">
                  <c:v>5 PM</c:v>
                </c:pt>
                <c:pt idx="13">
                  <c:v>6 PM</c:v>
                </c:pt>
                <c:pt idx="14">
                  <c:v>7 PM</c:v>
                </c:pt>
                <c:pt idx="15">
                  <c:v>8 PM</c:v>
                </c:pt>
              </c:strCache>
            </c:strRef>
          </c:cat>
          <c:val>
            <c:numRef>
              <c:f>Sheet1!$B$137:$B$153</c:f>
              <c:numCache>
                <c:formatCode>General</c:formatCode>
                <c:ptCount val="16"/>
                <c:pt idx="1">
                  <c:v>21900.269999999964</c:v>
                </c:pt>
                <c:pt idx="2">
                  <c:v>63526.469999999463</c:v>
                </c:pt>
                <c:pt idx="3">
                  <c:v>82699.87</c:v>
                </c:pt>
                <c:pt idx="4">
                  <c:v>85169.529999999941</c:v>
                </c:pt>
                <c:pt idx="5">
                  <c:v>88673.390000000436</c:v>
                </c:pt>
                <c:pt idx="6">
                  <c:v>46319.139999999737</c:v>
                </c:pt>
                <c:pt idx="7">
                  <c:v>40192.789999999863</c:v>
                </c:pt>
                <c:pt idx="8">
                  <c:v>40367.449999999881</c:v>
                </c:pt>
                <c:pt idx="9">
                  <c:v>41304.739999999809</c:v>
                </c:pt>
                <c:pt idx="10">
                  <c:v>41733.099999999788</c:v>
                </c:pt>
                <c:pt idx="11">
                  <c:v>41122.749999999767</c:v>
                </c:pt>
                <c:pt idx="12">
                  <c:v>40134.309999999874</c:v>
                </c:pt>
                <c:pt idx="13">
                  <c:v>34286.200000000004</c:v>
                </c:pt>
                <c:pt idx="14">
                  <c:v>28446.680000000051</c:v>
                </c:pt>
                <c:pt idx="15">
                  <c:v>2935.6399999999971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48-4C97-9BCE-FFDAC53A5F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469505647"/>
        <c:axId val="1469507567"/>
      </c:barChart>
      <c:catAx>
        <c:axId val="14695056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9507567"/>
        <c:crosses val="autoZero"/>
        <c:auto val="1"/>
        <c:lblAlgn val="ctr"/>
        <c:lblOffset val="100"/>
        <c:noMultiLvlLbl val="0"/>
      </c:catAx>
      <c:valAx>
        <c:axId val="14695075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69505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[DA_Excel Analysis. copy.xlsx]Sheet1!PivotTable17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 Analysis| Bucket spenders by Store Location.</a:t>
            </a:r>
          </a:p>
          <a:p>
            <a:pPr>
              <a:defRPr/>
            </a:pPr>
            <a:r>
              <a:rPr lang="en-US"/>
              <a:t>Analysing difference of Bucket spensers across different store locations.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92D050"/>
          </a:solidFill>
          <a:ln>
            <a:noFill/>
          </a:ln>
          <a:effectLst/>
        </c:spPr>
      </c:pivotFmt>
      <c:pivotFmt>
        <c:idx val="12"/>
        <c:spPr>
          <a:solidFill>
            <a:srgbClr val="FF0000"/>
          </a:solidFill>
          <a:ln>
            <a:noFill/>
          </a:ln>
          <a:effectLst/>
        </c:spPr>
      </c:pivotFmt>
      <c:pivotFmt>
        <c:idx val="13"/>
        <c:spPr>
          <a:solidFill>
            <a:srgbClr val="00B0F0"/>
          </a:solidFill>
          <a:ln>
            <a:noFill/>
          </a:ln>
          <a:effectLst/>
        </c:spPr>
      </c:pivotFmt>
      <c:pivotFmt>
        <c:idx val="14"/>
        <c:spPr>
          <a:solidFill>
            <a:srgbClr val="92D050"/>
          </a:solidFill>
          <a:ln>
            <a:noFill/>
          </a:ln>
          <a:effectLst/>
        </c:spPr>
      </c:pivotFmt>
      <c:pivotFmt>
        <c:idx val="15"/>
        <c:spPr>
          <a:solidFill>
            <a:srgbClr val="FF0000"/>
          </a:solidFill>
          <a:ln>
            <a:noFill/>
          </a:ln>
          <a:effectLst/>
        </c:spPr>
      </c:pivotFmt>
      <c:pivotFmt>
        <c:idx val="16"/>
        <c:spPr>
          <a:solidFill>
            <a:srgbClr val="00B0F0"/>
          </a:solidFill>
          <a:ln>
            <a:noFill/>
          </a:ln>
          <a:effectLst/>
        </c:spPr>
      </c:pivotFmt>
      <c:pivotFmt>
        <c:idx val="17"/>
        <c:spPr>
          <a:solidFill>
            <a:srgbClr val="92D050"/>
          </a:solidFill>
          <a:ln>
            <a:noFill/>
          </a:ln>
          <a:effectLst/>
        </c:spPr>
      </c:pivotFmt>
      <c:pivotFmt>
        <c:idx val="18"/>
        <c:spPr>
          <a:solidFill>
            <a:srgbClr val="FF0000"/>
          </a:solidFill>
          <a:ln>
            <a:noFill/>
          </a:ln>
          <a:effectLst/>
        </c:spPr>
      </c:pivotFmt>
      <c:pivotFmt>
        <c:idx val="19"/>
        <c:spPr>
          <a:solidFill>
            <a:srgbClr val="00B0F0"/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92D050"/>
          </a:solidFill>
          <a:ln>
            <a:noFill/>
          </a:ln>
          <a:effectLst/>
        </c:spPr>
      </c:pivotFmt>
      <c:pivotFmt>
        <c:idx val="22"/>
        <c:spPr>
          <a:solidFill>
            <a:srgbClr val="FF0000"/>
          </a:solidFill>
          <a:ln>
            <a:noFill/>
          </a:ln>
          <a:effectLst/>
        </c:spPr>
      </c:pivotFmt>
      <c:pivotFmt>
        <c:idx val="23"/>
        <c:spPr>
          <a:solidFill>
            <a:srgbClr val="00B0F0"/>
          </a:solidFill>
          <a:ln>
            <a:noFill/>
          </a:ln>
          <a:effectLst/>
        </c:spPr>
      </c:pivotFmt>
      <c:pivotFmt>
        <c:idx val="24"/>
        <c:spPr>
          <a:solidFill>
            <a:srgbClr val="92D050"/>
          </a:solidFill>
          <a:ln>
            <a:noFill/>
          </a:ln>
          <a:effectLst/>
        </c:spPr>
      </c:pivotFmt>
      <c:pivotFmt>
        <c:idx val="25"/>
        <c:spPr>
          <a:solidFill>
            <a:srgbClr val="FF0000"/>
          </a:solidFill>
          <a:ln>
            <a:noFill/>
          </a:ln>
          <a:effectLst/>
        </c:spPr>
      </c:pivotFmt>
      <c:pivotFmt>
        <c:idx val="26"/>
        <c:spPr>
          <a:solidFill>
            <a:srgbClr val="00B0F0"/>
          </a:solidFill>
          <a:ln>
            <a:noFill/>
          </a:ln>
          <a:effectLst/>
        </c:spPr>
      </c:pivotFmt>
      <c:pivotFmt>
        <c:idx val="27"/>
        <c:spPr>
          <a:solidFill>
            <a:srgbClr val="92D050"/>
          </a:solidFill>
          <a:ln>
            <a:noFill/>
          </a:ln>
          <a:effectLst/>
        </c:spPr>
      </c:pivotFmt>
      <c:pivotFmt>
        <c:idx val="28"/>
        <c:spPr>
          <a:solidFill>
            <a:srgbClr val="FF0000"/>
          </a:solidFill>
          <a:ln>
            <a:noFill/>
          </a:ln>
          <a:effectLst/>
        </c:spPr>
      </c:pivotFmt>
      <c:pivotFmt>
        <c:idx val="29"/>
        <c:spPr>
          <a:solidFill>
            <a:srgbClr val="00B0F0"/>
          </a:solidFill>
          <a:ln>
            <a:noFill/>
          </a:ln>
          <a:effectLst/>
        </c:spP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rgbClr val="92D050"/>
          </a:solidFill>
          <a:ln>
            <a:noFill/>
          </a:ln>
          <a:effectLst/>
        </c:spPr>
      </c:pivotFmt>
      <c:pivotFmt>
        <c:idx val="32"/>
        <c:spPr>
          <a:solidFill>
            <a:srgbClr val="FF0000"/>
          </a:solidFill>
          <a:ln>
            <a:noFill/>
          </a:ln>
          <a:effectLst/>
        </c:spPr>
      </c:pivotFmt>
      <c:pivotFmt>
        <c:idx val="33"/>
        <c:spPr>
          <a:solidFill>
            <a:srgbClr val="00B0F0"/>
          </a:solidFill>
          <a:ln>
            <a:noFill/>
          </a:ln>
          <a:effectLst/>
        </c:spPr>
      </c:pivotFmt>
      <c:pivotFmt>
        <c:idx val="34"/>
        <c:spPr>
          <a:solidFill>
            <a:srgbClr val="92D050"/>
          </a:solidFill>
          <a:ln>
            <a:noFill/>
          </a:ln>
          <a:effectLst/>
        </c:spPr>
      </c:pivotFmt>
      <c:pivotFmt>
        <c:idx val="35"/>
        <c:spPr>
          <a:solidFill>
            <a:srgbClr val="FF0000"/>
          </a:solidFill>
          <a:ln>
            <a:noFill/>
          </a:ln>
          <a:effectLst/>
        </c:spPr>
      </c:pivotFmt>
      <c:pivotFmt>
        <c:idx val="36"/>
        <c:spPr>
          <a:solidFill>
            <a:srgbClr val="00B0F0"/>
          </a:solidFill>
          <a:ln>
            <a:noFill/>
          </a:ln>
          <a:effectLst/>
        </c:spPr>
      </c:pivotFmt>
      <c:pivotFmt>
        <c:idx val="37"/>
        <c:spPr>
          <a:solidFill>
            <a:srgbClr val="92D050"/>
          </a:solidFill>
          <a:ln>
            <a:noFill/>
          </a:ln>
          <a:effectLst/>
        </c:spPr>
      </c:pivotFmt>
      <c:pivotFmt>
        <c:idx val="38"/>
        <c:spPr>
          <a:solidFill>
            <a:srgbClr val="FF0000"/>
          </a:solidFill>
          <a:ln>
            <a:noFill/>
          </a:ln>
          <a:effectLst/>
        </c:spPr>
      </c:pivotFmt>
      <c:pivotFmt>
        <c:idx val="39"/>
        <c:spPr>
          <a:solidFill>
            <a:srgbClr val="00B0F0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5.3858564272495878E-2"/>
          <c:y val="0.11362255701812161"/>
          <c:w val="0.74587021899979167"/>
          <c:h val="0.7776656221048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Sheet1!$B$83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7B-4BB5-9E46-1939BDE0954A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F7B-4BB5-9E46-1939BDE0954A}"/>
              </c:ext>
            </c:extLst>
          </c:dPt>
          <c:dPt>
            <c:idx val="2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F7B-4BB5-9E46-1939BDE0954A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F7B-4BB5-9E46-1939BDE0954A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F7B-4BB5-9E46-1939BDE0954A}"/>
              </c:ext>
            </c:extLst>
          </c:dPt>
          <c:dPt>
            <c:idx val="5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F7B-4BB5-9E46-1939BDE0954A}"/>
              </c:ext>
            </c:extLst>
          </c:dPt>
          <c:dPt>
            <c:idx val="6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F7B-4BB5-9E46-1939BDE0954A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F7B-4BB5-9E46-1939BDE0954A}"/>
              </c:ext>
            </c:extLst>
          </c:dPt>
          <c:dPt>
            <c:idx val="8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F7B-4BB5-9E46-1939BDE0954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Sheet1!$A$84:$A$98</c:f>
              <c:multiLvlStrCache>
                <c:ptCount val="10"/>
                <c:lvl>
                  <c:pt idx="0">
                    <c:v>Astoria</c:v>
                  </c:pt>
                  <c:pt idx="1">
                    <c:v>Hell's Kitchen</c:v>
                  </c:pt>
                  <c:pt idx="2">
                    <c:v>Lower Manhattan</c:v>
                  </c:pt>
                  <c:pt idx="3">
                    <c:v>Astoria</c:v>
                  </c:pt>
                  <c:pt idx="4">
                    <c:v>Hell's Kitchen</c:v>
                  </c:pt>
                  <c:pt idx="5">
                    <c:v>Lower Manhattan</c:v>
                  </c:pt>
                  <c:pt idx="6">
                    <c:v>Astoria</c:v>
                  </c:pt>
                  <c:pt idx="7">
                    <c:v>Hell's Kitchen</c:v>
                  </c:pt>
                  <c:pt idx="8">
                    <c:v>Lower Manhattan</c:v>
                  </c:pt>
                  <c:pt idx="9">
                    <c:v>(blank)</c:v>
                  </c:pt>
                </c:lvl>
                <c:lvl>
                  <c:pt idx="0">
                    <c:v>Higher spender</c:v>
                  </c:pt>
                  <c:pt idx="3">
                    <c:v>Low spender</c:v>
                  </c:pt>
                  <c:pt idx="6">
                    <c:v>Middle spender</c:v>
                  </c:pt>
                  <c:pt idx="9">
                    <c:v>(blank)</c:v>
                  </c:pt>
                </c:lvl>
              </c:multiLvlStrCache>
            </c:multiLvlStrRef>
          </c:cat>
          <c:val>
            <c:numRef>
              <c:f>Sheet1!$B$84:$B$98</c:f>
              <c:numCache>
                <c:formatCode>General</c:formatCode>
                <c:ptCount val="10"/>
                <c:pt idx="0">
                  <c:v>47200.909999998941</c:v>
                </c:pt>
                <c:pt idx="1">
                  <c:v>49471.519999999</c:v>
                </c:pt>
                <c:pt idx="2">
                  <c:v>52073.059999998812</c:v>
                </c:pt>
                <c:pt idx="3">
                  <c:v>76648.550000000774</c:v>
                </c:pt>
                <c:pt idx="4">
                  <c:v>74399.25000000243</c:v>
                </c:pt>
                <c:pt idx="5">
                  <c:v>68447.100000002378</c:v>
                </c:pt>
                <c:pt idx="6">
                  <c:v>47422.949999999444</c:v>
                </c:pt>
                <c:pt idx="7">
                  <c:v>48334.899999999354</c:v>
                </c:pt>
                <c:pt idx="8">
                  <c:v>40344.78999999987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B7-E640-A0FB-103AF2E3B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997872"/>
        <c:axId val="48998352"/>
      </c:barChart>
      <c:catAx>
        <c:axId val="48997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98352"/>
        <c:crosses val="autoZero"/>
        <c:auto val="1"/>
        <c:lblAlgn val="ctr"/>
        <c:lblOffset val="100"/>
        <c:noMultiLvlLbl val="0"/>
      </c:catAx>
      <c:valAx>
        <c:axId val="48998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97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829824400742022"/>
          <c:y val="0.3316693356912942"/>
          <c:w val="0.20170175599257967"/>
          <c:h val="0.360547963457662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89745" y="2203545"/>
            <a:ext cx="10285592" cy="1028559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4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389745" y="742152"/>
            <a:ext cx="7869555" cy="8229600"/>
          </a:xfrm>
          <a:custGeom>
            <a:avLst/>
            <a:gdLst/>
            <a:ahLst/>
            <a:cxnLst/>
            <a:rect l="l" t="t" r="r" b="b"/>
            <a:pathLst>
              <a:path w="7869555" h="8229600">
                <a:moveTo>
                  <a:pt x="0" y="0"/>
                </a:moveTo>
                <a:lnTo>
                  <a:pt x="7869555" y="0"/>
                </a:lnTo>
                <a:lnTo>
                  <a:pt x="78695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7065738"/>
            <a:ext cx="3466570" cy="666261"/>
            <a:chOff x="0" y="0"/>
            <a:chExt cx="812800" cy="1562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156217"/>
            </a:xfrm>
            <a:custGeom>
              <a:avLst/>
              <a:gdLst/>
              <a:ahLst/>
              <a:cxnLst/>
              <a:rect l="l" t="t" r="r" b="b"/>
              <a:pathLst>
                <a:path w="812800" h="156217">
                  <a:moveTo>
                    <a:pt x="69233" y="0"/>
                  </a:moveTo>
                  <a:lnTo>
                    <a:pt x="743567" y="0"/>
                  </a:lnTo>
                  <a:cubicBezTo>
                    <a:pt x="761929" y="0"/>
                    <a:pt x="779539" y="7294"/>
                    <a:pt x="792522" y="20278"/>
                  </a:cubicBezTo>
                  <a:cubicBezTo>
                    <a:pt x="805506" y="33261"/>
                    <a:pt x="812800" y="50871"/>
                    <a:pt x="812800" y="69233"/>
                  </a:cubicBezTo>
                  <a:lnTo>
                    <a:pt x="812800" y="86984"/>
                  </a:lnTo>
                  <a:cubicBezTo>
                    <a:pt x="812800" y="105346"/>
                    <a:pt x="805506" y="122956"/>
                    <a:pt x="792522" y="135939"/>
                  </a:cubicBezTo>
                  <a:cubicBezTo>
                    <a:pt x="779539" y="148923"/>
                    <a:pt x="761929" y="156217"/>
                    <a:pt x="743567" y="156217"/>
                  </a:cubicBezTo>
                  <a:lnTo>
                    <a:pt x="69233" y="156217"/>
                  </a:lnTo>
                  <a:cubicBezTo>
                    <a:pt x="50871" y="156217"/>
                    <a:pt x="33261" y="148923"/>
                    <a:pt x="20278" y="135939"/>
                  </a:cubicBezTo>
                  <a:cubicBezTo>
                    <a:pt x="7294" y="122956"/>
                    <a:pt x="0" y="105346"/>
                    <a:pt x="0" y="86984"/>
                  </a:cubicBezTo>
                  <a:lnTo>
                    <a:pt x="0" y="69233"/>
                  </a:lnTo>
                  <a:cubicBezTo>
                    <a:pt x="0" y="50871"/>
                    <a:pt x="7294" y="33261"/>
                    <a:pt x="20278" y="20278"/>
                  </a:cubicBezTo>
                  <a:cubicBezTo>
                    <a:pt x="33261" y="7294"/>
                    <a:pt x="50871" y="0"/>
                    <a:pt x="69233" y="0"/>
                  </a:cubicBezTo>
                  <a:close/>
                </a:path>
              </a:pathLst>
            </a:custGeom>
            <a:ln w="38100" cap="rnd">
              <a:solidFill>
                <a:srgbClr val="7D48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12800" cy="213367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2555001"/>
            <a:ext cx="402510" cy="413795"/>
          </a:xfrm>
          <a:custGeom>
            <a:avLst/>
            <a:gdLst/>
            <a:ahLst/>
            <a:cxnLst/>
            <a:rect l="l" t="t" r="r" b="b"/>
            <a:pathLst>
              <a:path w="402510" h="413795">
                <a:moveTo>
                  <a:pt x="0" y="0"/>
                </a:moveTo>
                <a:lnTo>
                  <a:pt x="402510" y="0"/>
                </a:lnTo>
                <a:lnTo>
                  <a:pt x="402510" y="413795"/>
                </a:lnTo>
                <a:lnTo>
                  <a:pt x="0" y="413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14032614" y="742152"/>
            <a:ext cx="1404311" cy="1603318"/>
          </a:xfrm>
          <a:custGeom>
            <a:avLst/>
            <a:gdLst/>
            <a:ahLst/>
            <a:cxnLst/>
            <a:rect l="l" t="t" r="r" b="b"/>
            <a:pathLst>
              <a:path w="1404311" h="1603318">
                <a:moveTo>
                  <a:pt x="1404311" y="0"/>
                </a:moveTo>
                <a:lnTo>
                  <a:pt x="0" y="0"/>
                </a:lnTo>
                <a:lnTo>
                  <a:pt x="0" y="1603318"/>
                </a:lnTo>
                <a:lnTo>
                  <a:pt x="1404311" y="1603318"/>
                </a:lnTo>
                <a:lnTo>
                  <a:pt x="1404311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69605" y="8782123"/>
            <a:ext cx="8163150" cy="8193877"/>
          </a:xfrm>
          <a:custGeom>
            <a:avLst/>
            <a:gdLst/>
            <a:ahLst/>
            <a:cxnLst/>
            <a:rect l="l" t="t" r="r" b="b"/>
            <a:pathLst>
              <a:path w="8163150" h="8193877">
                <a:moveTo>
                  <a:pt x="0" y="0"/>
                </a:moveTo>
                <a:lnTo>
                  <a:pt x="8163150" y="0"/>
                </a:lnTo>
                <a:lnTo>
                  <a:pt x="8163150" y="8193877"/>
                </a:lnTo>
                <a:lnTo>
                  <a:pt x="0" y="8193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344839" y="7150240"/>
            <a:ext cx="2834293" cy="40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 b="1">
                <a:solidFill>
                  <a:srgbClr val="7D4833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216799"/>
            <a:ext cx="5192096" cy="347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7"/>
              </a:lnSpc>
            </a:pPr>
            <a:r>
              <a:rPr lang="en-US" sz="7888">
                <a:solidFill>
                  <a:srgbClr val="7D4833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BRIGHTCOFFEE SHOP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8903" y="2595617"/>
            <a:ext cx="3143967" cy="40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55"/>
              </a:lnSpc>
              <a:spcBef>
                <a:spcPct val="0"/>
              </a:spcBef>
            </a:pPr>
            <a:r>
              <a:rPr lang="en-US" sz="2468" b="1">
                <a:solidFill>
                  <a:srgbClr val="7D4833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By Esihle Nketeba 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29955" y="-5243989"/>
            <a:ext cx="7560999" cy="7589459"/>
          </a:xfrm>
          <a:custGeom>
            <a:avLst/>
            <a:gdLst/>
            <a:ahLst/>
            <a:cxnLst/>
            <a:rect l="l" t="t" r="r" b="b"/>
            <a:pathLst>
              <a:path w="7560999" h="7589459">
                <a:moveTo>
                  <a:pt x="0" y="0"/>
                </a:moveTo>
                <a:lnTo>
                  <a:pt x="7560999" y="0"/>
                </a:lnTo>
                <a:lnTo>
                  <a:pt x="7560999" y="7589459"/>
                </a:lnTo>
                <a:lnTo>
                  <a:pt x="0" y="75894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73965" y="1028700"/>
            <a:ext cx="2835229" cy="843454"/>
            <a:chOff x="0" y="0"/>
            <a:chExt cx="664771" cy="1977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7D48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64138" y="-478574"/>
            <a:ext cx="7829549" cy="10765574"/>
            <a:chOff x="0" y="0"/>
            <a:chExt cx="2646704" cy="28353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46704" cy="2835377"/>
            </a:xfrm>
            <a:custGeom>
              <a:avLst/>
              <a:gdLst/>
              <a:ahLst/>
              <a:cxnLst/>
              <a:rect l="l" t="t" r="r" b="b"/>
              <a:pathLst>
                <a:path w="2646704" h="2835377">
                  <a:moveTo>
                    <a:pt x="0" y="0"/>
                  </a:moveTo>
                  <a:lnTo>
                    <a:pt x="2646704" y="0"/>
                  </a:lnTo>
                  <a:lnTo>
                    <a:pt x="2646704" y="2835377"/>
                  </a:lnTo>
                  <a:lnTo>
                    <a:pt x="0" y="2835377"/>
                  </a:lnTo>
                  <a:close/>
                </a:path>
              </a:pathLst>
            </a:custGeom>
            <a:solidFill>
              <a:srgbClr val="7D4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646704" cy="2892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16668750" y="4267528"/>
            <a:ext cx="1404311" cy="1603318"/>
          </a:xfrm>
          <a:custGeom>
            <a:avLst/>
            <a:gdLst/>
            <a:ahLst/>
            <a:cxnLst/>
            <a:rect l="l" t="t" r="r" b="b"/>
            <a:pathLst>
              <a:path w="1404311" h="1603318">
                <a:moveTo>
                  <a:pt x="1404311" y="0"/>
                </a:moveTo>
                <a:lnTo>
                  <a:pt x="0" y="0"/>
                </a:lnTo>
                <a:lnTo>
                  <a:pt x="0" y="1603318"/>
                </a:lnTo>
                <a:lnTo>
                  <a:pt x="1404311" y="1603318"/>
                </a:lnTo>
                <a:lnTo>
                  <a:pt x="14043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V="1">
            <a:off x="-375611" y="8167897"/>
            <a:ext cx="1404311" cy="1603318"/>
          </a:xfrm>
          <a:custGeom>
            <a:avLst/>
            <a:gdLst/>
            <a:ahLst/>
            <a:cxnLst/>
            <a:rect l="l" t="t" r="r" b="b"/>
            <a:pathLst>
              <a:path w="1404311" h="1603318">
                <a:moveTo>
                  <a:pt x="0" y="1603317"/>
                </a:moveTo>
                <a:lnTo>
                  <a:pt x="1404311" y="1603317"/>
                </a:lnTo>
                <a:lnTo>
                  <a:pt x="1404311" y="0"/>
                </a:lnTo>
                <a:lnTo>
                  <a:pt x="0" y="0"/>
                </a:lnTo>
                <a:lnTo>
                  <a:pt x="0" y="160331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3534700" y="-1016105"/>
            <a:ext cx="7560999" cy="3176628"/>
          </a:xfrm>
          <a:custGeom>
            <a:avLst/>
            <a:gdLst/>
            <a:ahLst/>
            <a:cxnLst/>
            <a:rect l="l" t="t" r="r" b="b"/>
            <a:pathLst>
              <a:path w="7560999" h="3176628">
                <a:moveTo>
                  <a:pt x="0" y="0"/>
                </a:moveTo>
                <a:lnTo>
                  <a:pt x="7560999" y="0"/>
                </a:lnTo>
                <a:lnTo>
                  <a:pt x="7560999" y="3176627"/>
                </a:lnTo>
                <a:lnTo>
                  <a:pt x="0" y="3176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89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830743" y="1224622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52401" y="1431377"/>
            <a:ext cx="731099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600" b="1" dirty="0">
                <a:solidFill>
                  <a:srgbClr val="FBD95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Insight| Total Revenue by </a:t>
            </a:r>
            <a:r>
              <a:rPr lang="en-US" sz="3600" b="1" dirty="0" err="1">
                <a:solidFill>
                  <a:srgbClr val="FBD95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MonthName</a:t>
            </a:r>
            <a:endParaRPr lang="en-US" sz="3600" b="1" dirty="0">
              <a:solidFill>
                <a:srgbClr val="FBD952"/>
              </a:solidFill>
              <a:latin typeface="Assistant Bold"/>
              <a:ea typeface="Assistant Bold"/>
              <a:cs typeface="Assistant Bold"/>
              <a:sym typeface="Assistan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-152401" y="3012077"/>
            <a:ext cx="4870136" cy="221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Revenue increase consistently every month from January to June.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This shows steady business growth with no decline periods.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Growth appears linear and healthy, not volatile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34CC07DC-FBA4-F41D-6626-04C3B130F6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319655"/>
              </p:ext>
            </p:extLst>
          </p:nvPr>
        </p:nvGraphicFramePr>
        <p:xfrm>
          <a:off x="7543800" y="-239287"/>
          <a:ext cx="10529261" cy="131124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02000" y="9182100"/>
            <a:ext cx="2835229" cy="843454"/>
            <a:chOff x="0" y="0"/>
            <a:chExt cx="664771" cy="1977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7D48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7772400" cy="3595090"/>
            <a:chOff x="0" y="0"/>
            <a:chExt cx="1862643" cy="1593725"/>
          </a:xfrm>
        </p:grpSpPr>
        <p:sp>
          <p:nvSpPr>
            <p:cNvPr id="6" name="Freeform 6"/>
            <p:cNvSpPr/>
            <p:nvPr/>
          </p:nvSpPr>
          <p:spPr>
            <a:xfrm flipH="1">
              <a:off x="0" y="0"/>
              <a:ext cx="1862643" cy="1593725"/>
            </a:xfrm>
            <a:custGeom>
              <a:avLst/>
              <a:gdLst/>
              <a:ahLst/>
              <a:cxnLst/>
              <a:rect l="l" t="t" r="r" b="b"/>
              <a:pathLst>
                <a:path w="1862643" h="1593725">
                  <a:moveTo>
                    <a:pt x="1862643" y="0"/>
                  </a:moveTo>
                  <a:lnTo>
                    <a:pt x="0" y="0"/>
                  </a:lnTo>
                  <a:lnTo>
                    <a:pt x="0" y="1593725"/>
                  </a:lnTo>
                  <a:lnTo>
                    <a:pt x="1862643" y="1593725"/>
                  </a:lnTo>
                  <a:close/>
                </a:path>
              </a:pathLst>
            </a:custGeom>
            <a:blipFill>
              <a:blip r:embed="rId2">
                <a:alphaModFix amt="86000"/>
              </a:blip>
              <a:stretch>
                <a:fillRect l="-14272" r="-142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772400" y="0"/>
            <a:ext cx="10515600" cy="3595090"/>
            <a:chOff x="0" y="0"/>
            <a:chExt cx="1251047" cy="8394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1047" cy="839477"/>
            </a:xfrm>
            <a:custGeom>
              <a:avLst/>
              <a:gdLst/>
              <a:ahLst/>
              <a:cxnLst/>
              <a:rect l="l" t="t" r="r" b="b"/>
              <a:pathLst>
                <a:path w="1251047" h="839477">
                  <a:moveTo>
                    <a:pt x="0" y="0"/>
                  </a:moveTo>
                  <a:lnTo>
                    <a:pt x="1251047" y="0"/>
                  </a:lnTo>
                  <a:lnTo>
                    <a:pt x="1251047" y="839477"/>
                  </a:lnTo>
                  <a:lnTo>
                    <a:pt x="0" y="839477"/>
                  </a:lnTo>
                  <a:close/>
                </a:path>
              </a:pathLst>
            </a:custGeom>
            <a:solidFill>
              <a:srgbClr val="7D483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-366229" y="7545136"/>
            <a:ext cx="5304552" cy="2228619"/>
          </a:xfrm>
          <a:custGeom>
            <a:avLst/>
            <a:gdLst/>
            <a:ahLst/>
            <a:cxnLst/>
            <a:rect l="l" t="t" r="r" b="b"/>
            <a:pathLst>
              <a:path w="5304552" h="2228619">
                <a:moveTo>
                  <a:pt x="0" y="2228620"/>
                </a:moveTo>
                <a:lnTo>
                  <a:pt x="5304553" y="2228620"/>
                </a:lnTo>
                <a:lnTo>
                  <a:pt x="5304553" y="0"/>
                </a:lnTo>
                <a:lnTo>
                  <a:pt x="0" y="0"/>
                </a:lnTo>
                <a:lnTo>
                  <a:pt x="0" y="2228620"/>
                </a:lnTo>
                <a:close/>
              </a:path>
            </a:pathLst>
          </a:custGeom>
          <a:blipFill>
            <a:blip r:embed="rId3"/>
            <a:stretch>
              <a:fillRect t="-1389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562885" y="9360245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2355" y="678045"/>
            <a:ext cx="6613846" cy="1115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712"/>
              </a:lnSpc>
            </a:pPr>
            <a:r>
              <a:rPr lang="en-US" sz="8142" b="1" dirty="0">
                <a:solidFill>
                  <a:srgbClr val="FBD95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Insight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93911" y="543401"/>
            <a:ext cx="7420409" cy="110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Hell’s Kitchen has the highest contribution.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All locations are performing at the similar level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The business is not dependent on a single store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C87AACD-08E5-4656-3D0D-A1652CECF5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827232"/>
              </p:ext>
            </p:extLst>
          </p:nvPr>
        </p:nvGraphicFramePr>
        <p:xfrm>
          <a:off x="3886200" y="3587470"/>
          <a:ext cx="10972800" cy="6156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2940" y="-1"/>
            <a:ext cx="2395059" cy="11382076"/>
            <a:chOff x="0" y="0"/>
            <a:chExt cx="157504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5040" cy="2709333"/>
            </a:xfrm>
            <a:custGeom>
              <a:avLst/>
              <a:gdLst/>
              <a:ahLst/>
              <a:cxnLst/>
              <a:rect l="l" t="t" r="r" b="b"/>
              <a:pathLst>
                <a:path w="1575040" h="2709333">
                  <a:moveTo>
                    <a:pt x="0" y="0"/>
                  </a:moveTo>
                  <a:lnTo>
                    <a:pt x="1575040" y="0"/>
                  </a:lnTo>
                  <a:lnTo>
                    <a:pt x="15750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D4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57504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273965" y="1028700"/>
            <a:ext cx="2835229" cy="843454"/>
            <a:chOff x="0" y="0"/>
            <a:chExt cx="664771" cy="1977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FBD9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886" y="1224622"/>
            <a:ext cx="4841323" cy="5916133"/>
            <a:chOff x="0" y="0"/>
            <a:chExt cx="1524976" cy="19989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4976" cy="1998937"/>
            </a:xfrm>
            <a:custGeom>
              <a:avLst/>
              <a:gdLst/>
              <a:ahLst/>
              <a:cxnLst/>
              <a:rect l="l" t="t" r="r" b="b"/>
              <a:pathLst>
                <a:path w="1524976" h="1998937">
                  <a:moveTo>
                    <a:pt x="0" y="0"/>
                  </a:moveTo>
                  <a:lnTo>
                    <a:pt x="1524976" y="0"/>
                  </a:lnTo>
                  <a:lnTo>
                    <a:pt x="1524976" y="1998937"/>
                  </a:lnTo>
                  <a:lnTo>
                    <a:pt x="0" y="1998937"/>
                  </a:lnTo>
                  <a:close/>
                </a:path>
              </a:pathLst>
            </a:custGeom>
            <a:blipFill>
              <a:blip r:embed="rId2"/>
              <a:stretch>
                <a:fillRect l="-70006" r="-263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11049000" y="9250680"/>
            <a:ext cx="1122588" cy="1281672"/>
          </a:xfrm>
          <a:custGeom>
            <a:avLst/>
            <a:gdLst/>
            <a:ahLst/>
            <a:cxnLst/>
            <a:rect l="l" t="t" r="r" b="b"/>
            <a:pathLst>
              <a:path w="1122588" h="1281672">
                <a:moveTo>
                  <a:pt x="1122589" y="0"/>
                </a:moveTo>
                <a:lnTo>
                  <a:pt x="0" y="0"/>
                </a:lnTo>
                <a:lnTo>
                  <a:pt x="0" y="1281672"/>
                </a:lnTo>
                <a:lnTo>
                  <a:pt x="1122589" y="1281672"/>
                </a:lnTo>
                <a:lnTo>
                  <a:pt x="112258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>
            <a:off x="-375611" y="-152891"/>
            <a:ext cx="1404311" cy="1603318"/>
          </a:xfrm>
          <a:custGeom>
            <a:avLst/>
            <a:gdLst/>
            <a:ahLst/>
            <a:cxnLst/>
            <a:rect l="l" t="t" r="r" b="b"/>
            <a:pathLst>
              <a:path w="1404311" h="1603318">
                <a:moveTo>
                  <a:pt x="1404311" y="0"/>
                </a:moveTo>
                <a:lnTo>
                  <a:pt x="0" y="0"/>
                </a:lnTo>
                <a:lnTo>
                  <a:pt x="0" y="1603318"/>
                </a:lnTo>
                <a:lnTo>
                  <a:pt x="1404311" y="1603318"/>
                </a:lnTo>
                <a:lnTo>
                  <a:pt x="140431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6830743" y="1224622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08781" y="726058"/>
            <a:ext cx="2675296" cy="729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2" b="1" dirty="0">
                <a:solidFill>
                  <a:srgbClr val="7D4833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Revenue Analysis By TIME BUCKET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08781" y="1611400"/>
            <a:ext cx="5254619" cy="11011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Morning drives the majority of revenue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Afternoon has moderate performance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Evening is the weakest period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2C061E1-418C-85B9-0E3B-504ACF60DF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2330780"/>
              </p:ext>
            </p:extLst>
          </p:nvPr>
        </p:nvGraphicFramePr>
        <p:xfrm>
          <a:off x="6021174" y="2933700"/>
          <a:ext cx="9448800" cy="6034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273965" y="1028700"/>
            <a:ext cx="2835229" cy="843454"/>
            <a:chOff x="0" y="0"/>
            <a:chExt cx="664771" cy="19776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FBD95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762500"/>
            <a:ext cx="4841322" cy="4495800"/>
            <a:chOff x="0" y="0"/>
            <a:chExt cx="1524976" cy="19989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976" cy="1998937"/>
            </a:xfrm>
            <a:custGeom>
              <a:avLst/>
              <a:gdLst/>
              <a:ahLst/>
              <a:cxnLst/>
              <a:rect l="l" t="t" r="r" b="b"/>
              <a:pathLst>
                <a:path w="1524976" h="1998937">
                  <a:moveTo>
                    <a:pt x="0" y="0"/>
                  </a:moveTo>
                  <a:lnTo>
                    <a:pt x="1524976" y="0"/>
                  </a:lnTo>
                  <a:lnTo>
                    <a:pt x="1524976" y="1998937"/>
                  </a:lnTo>
                  <a:lnTo>
                    <a:pt x="0" y="1998937"/>
                  </a:lnTo>
                  <a:close/>
                </a:path>
              </a:pathLst>
            </a:custGeom>
            <a:blipFill>
              <a:blip r:embed="rId2"/>
              <a:stretch>
                <a:fillRect l="-29923" r="-6793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476931" y="8712714"/>
            <a:ext cx="1122588" cy="1281672"/>
          </a:xfrm>
          <a:custGeom>
            <a:avLst/>
            <a:gdLst/>
            <a:ahLst/>
            <a:cxnLst/>
            <a:rect l="l" t="t" r="r" b="b"/>
            <a:pathLst>
              <a:path w="1122588" h="1281672">
                <a:moveTo>
                  <a:pt x="0" y="0"/>
                </a:moveTo>
                <a:lnTo>
                  <a:pt x="1122588" y="0"/>
                </a:lnTo>
                <a:lnTo>
                  <a:pt x="1122588" y="1281672"/>
                </a:lnTo>
                <a:lnTo>
                  <a:pt x="0" y="1281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4939488" y="-227417"/>
            <a:ext cx="1404311" cy="1603318"/>
          </a:xfrm>
          <a:custGeom>
            <a:avLst/>
            <a:gdLst/>
            <a:ahLst/>
            <a:cxnLst/>
            <a:rect l="l" t="t" r="r" b="b"/>
            <a:pathLst>
              <a:path w="1404311" h="1603318">
                <a:moveTo>
                  <a:pt x="1404311" y="0"/>
                </a:moveTo>
                <a:lnTo>
                  <a:pt x="0" y="0"/>
                </a:lnTo>
                <a:lnTo>
                  <a:pt x="0" y="1603318"/>
                </a:lnTo>
                <a:lnTo>
                  <a:pt x="1404311" y="1603318"/>
                </a:lnTo>
                <a:lnTo>
                  <a:pt x="140431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flipV="1">
            <a:off x="9655494" y="8294600"/>
            <a:ext cx="5304552" cy="2228619"/>
          </a:xfrm>
          <a:custGeom>
            <a:avLst/>
            <a:gdLst/>
            <a:ahLst/>
            <a:cxnLst/>
            <a:rect l="l" t="t" r="r" b="b"/>
            <a:pathLst>
              <a:path w="5304552" h="2228619">
                <a:moveTo>
                  <a:pt x="0" y="2228619"/>
                </a:moveTo>
                <a:lnTo>
                  <a:pt x="5304552" y="2228619"/>
                </a:lnTo>
                <a:lnTo>
                  <a:pt x="5304552" y="0"/>
                </a:lnTo>
                <a:lnTo>
                  <a:pt x="0" y="0"/>
                </a:lnTo>
                <a:lnTo>
                  <a:pt x="0" y="2228619"/>
                </a:lnTo>
                <a:close/>
              </a:path>
            </a:pathLst>
          </a:custGeom>
          <a:blipFill>
            <a:blip r:embed="rId4"/>
            <a:stretch>
              <a:fillRect t="-1389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6830743" y="1224622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>
                <a:solidFill>
                  <a:srgbClr val="FBD952"/>
                </a:solidFill>
                <a:latin typeface="Assistant"/>
                <a:ea typeface="Assistant"/>
                <a:cs typeface="Assistant"/>
                <a:sym typeface="Assistant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58504" y="-106040"/>
            <a:ext cx="6623006" cy="2231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12"/>
              </a:lnSpc>
            </a:pPr>
            <a:r>
              <a:rPr lang="en-US" sz="8142" b="1" dirty="0">
                <a:solidFill>
                  <a:srgbClr val="FBD952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Revenue by DAY 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009650"/>
            <a:ext cx="2938580" cy="36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2" b="1" dirty="0">
                <a:solidFill>
                  <a:srgbClr val="7D4833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Insights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611400"/>
            <a:ext cx="3710205" cy="258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All days contribute roughly 14%–15% each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No major spikes or drops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The business has consistent daily demand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Revenue is stable and predictable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37BD81D7-6878-6D0E-09FC-910794FA5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5105763"/>
              </p:ext>
            </p:extLst>
          </p:nvPr>
        </p:nvGraphicFramePr>
        <p:xfrm>
          <a:off x="7391400" y="2184100"/>
          <a:ext cx="9601201" cy="745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72" t="-2847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6273965" y="1028700"/>
            <a:ext cx="2835229" cy="843454"/>
            <a:chOff x="0" y="0"/>
            <a:chExt cx="664771" cy="1977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7D48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4738459"/>
            <a:ext cx="18288000" cy="5548541"/>
            <a:chOff x="0" y="0"/>
            <a:chExt cx="4816593" cy="14613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461344"/>
            </a:xfrm>
            <a:custGeom>
              <a:avLst/>
              <a:gdLst/>
              <a:ahLst/>
              <a:cxnLst/>
              <a:rect l="l" t="t" r="r" b="b"/>
              <a:pathLst>
                <a:path w="4816592" h="1461344">
                  <a:moveTo>
                    <a:pt x="0" y="0"/>
                  </a:moveTo>
                  <a:lnTo>
                    <a:pt x="4816592" y="0"/>
                  </a:lnTo>
                  <a:lnTo>
                    <a:pt x="4816592" y="1461344"/>
                  </a:lnTo>
                  <a:lnTo>
                    <a:pt x="0" y="1461344"/>
                  </a:lnTo>
                  <a:close/>
                </a:path>
              </a:pathLst>
            </a:custGeom>
            <a:solidFill>
              <a:srgbClr val="23120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816593" cy="15184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830743" y="1224622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06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5214" y="5566925"/>
            <a:ext cx="7593602" cy="184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6000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Insight</a:t>
            </a:r>
          </a:p>
          <a:p>
            <a:pPr algn="l">
              <a:lnSpc>
                <a:spcPts val="2903"/>
              </a:lnSpc>
            </a:pPr>
            <a:endParaRPr lang="en-US" sz="2322" dirty="0">
              <a:solidFill>
                <a:srgbClr val="7D4833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Sales are evenly distributed across stores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All stores contribute almost equally to total sales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No location is underperforming</a:t>
            </a:r>
          </a:p>
        </p:txBody>
      </p:sp>
      <p:sp>
        <p:nvSpPr>
          <p:cNvPr id="13" name="Freeform 13"/>
          <p:cNvSpPr/>
          <p:nvPr/>
        </p:nvSpPr>
        <p:spPr>
          <a:xfrm flipV="1">
            <a:off x="4870150" y="8541774"/>
            <a:ext cx="5304552" cy="2228619"/>
          </a:xfrm>
          <a:custGeom>
            <a:avLst/>
            <a:gdLst/>
            <a:ahLst/>
            <a:cxnLst/>
            <a:rect l="l" t="t" r="r" b="b"/>
            <a:pathLst>
              <a:path w="5304552" h="2228619">
                <a:moveTo>
                  <a:pt x="0" y="2228620"/>
                </a:moveTo>
                <a:lnTo>
                  <a:pt x="5304553" y="2228620"/>
                </a:lnTo>
                <a:lnTo>
                  <a:pt x="5304553" y="0"/>
                </a:lnTo>
                <a:lnTo>
                  <a:pt x="0" y="0"/>
                </a:lnTo>
                <a:lnTo>
                  <a:pt x="0" y="2228620"/>
                </a:lnTo>
                <a:close/>
              </a:path>
            </a:pathLst>
          </a:custGeom>
          <a:blipFill>
            <a:blip r:embed="rId3"/>
            <a:stretch>
              <a:fillRect t="-138915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521E9F3-EA08-EEA9-D033-D7E8826812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1906818"/>
              </p:ext>
            </p:extLst>
          </p:nvPr>
        </p:nvGraphicFramePr>
        <p:xfrm>
          <a:off x="290472" y="4521467"/>
          <a:ext cx="8853528" cy="5548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6273965" y="1028700"/>
            <a:ext cx="2835229" cy="843454"/>
            <a:chOff x="0" y="0"/>
            <a:chExt cx="664771" cy="1977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7D48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484723"/>
            <a:ext cx="8243955" cy="802277"/>
            <a:chOff x="0" y="0"/>
            <a:chExt cx="2171248" cy="2112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1248" cy="211299"/>
            </a:xfrm>
            <a:custGeom>
              <a:avLst/>
              <a:gdLst/>
              <a:ahLst/>
              <a:cxnLst/>
              <a:rect l="l" t="t" r="r" b="b"/>
              <a:pathLst>
                <a:path w="2171248" h="211299">
                  <a:moveTo>
                    <a:pt x="0" y="0"/>
                  </a:moveTo>
                  <a:lnTo>
                    <a:pt x="2171248" y="0"/>
                  </a:lnTo>
                  <a:lnTo>
                    <a:pt x="2171248" y="211299"/>
                  </a:lnTo>
                  <a:lnTo>
                    <a:pt x="0" y="211299"/>
                  </a:lnTo>
                  <a:close/>
                </a:path>
              </a:pathLst>
            </a:custGeom>
            <a:solidFill>
              <a:srgbClr val="7D4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71248" cy="268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V="1">
            <a:off x="4340021" y="7256104"/>
            <a:ext cx="3849367" cy="2228619"/>
          </a:xfrm>
          <a:custGeom>
            <a:avLst/>
            <a:gdLst/>
            <a:ahLst/>
            <a:cxnLst/>
            <a:rect l="l" t="t" r="r" b="b"/>
            <a:pathLst>
              <a:path w="3849367" h="2228619">
                <a:moveTo>
                  <a:pt x="0" y="2228619"/>
                </a:moveTo>
                <a:lnTo>
                  <a:pt x="3849367" y="2228619"/>
                </a:lnTo>
                <a:lnTo>
                  <a:pt x="3849367" y="0"/>
                </a:lnTo>
                <a:lnTo>
                  <a:pt x="0" y="0"/>
                </a:lnTo>
                <a:lnTo>
                  <a:pt x="0" y="2228619"/>
                </a:lnTo>
                <a:close/>
              </a:path>
            </a:pathLst>
          </a:custGeom>
          <a:blipFill>
            <a:blip r:embed="rId2"/>
            <a:stretch>
              <a:fillRect t="-138915" r="-378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340021" y="-252972"/>
            <a:ext cx="1122588" cy="1281672"/>
          </a:xfrm>
          <a:custGeom>
            <a:avLst/>
            <a:gdLst/>
            <a:ahLst/>
            <a:cxnLst/>
            <a:rect l="l" t="t" r="r" b="b"/>
            <a:pathLst>
              <a:path w="1122588" h="1281672">
                <a:moveTo>
                  <a:pt x="0" y="0"/>
                </a:moveTo>
                <a:lnTo>
                  <a:pt x="1122589" y="0"/>
                </a:lnTo>
                <a:lnTo>
                  <a:pt x="1122589" y="1281672"/>
                </a:lnTo>
                <a:lnTo>
                  <a:pt x="0" y="1281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830743" y="1224622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348447"/>
            <a:ext cx="516831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7123" b="1" dirty="0">
                <a:solidFill>
                  <a:srgbClr val="7D4833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Insight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946789"/>
            <a:ext cx="5356426" cy="258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Coffee is the dominant revenue driver. It is by far the highest.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It contributes more than any other category combined (almost)</a:t>
            </a:r>
          </a:p>
          <a:p>
            <a:pPr algn="l">
              <a:lnSpc>
                <a:spcPts val="2903"/>
              </a:lnSpc>
            </a:pPr>
            <a:endParaRPr lang="en-US" sz="2322" dirty="0">
              <a:solidFill>
                <a:srgbClr val="7D4833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Tea is a major secondary driver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This indicates diverse customer preferences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914432EF-AEDD-FDAF-88D5-C571E3118C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4492788"/>
              </p:ext>
            </p:extLst>
          </p:nvPr>
        </p:nvGraphicFramePr>
        <p:xfrm>
          <a:off x="6811818" y="1872154"/>
          <a:ext cx="11245273" cy="8103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73965" y="1028700"/>
            <a:ext cx="2835229" cy="843454"/>
            <a:chOff x="0" y="0"/>
            <a:chExt cx="664771" cy="1977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7D48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5105400" cy="4076699"/>
            <a:chOff x="0" y="0"/>
            <a:chExt cx="1396623" cy="23035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6623" cy="2303531"/>
            </a:xfrm>
            <a:custGeom>
              <a:avLst/>
              <a:gdLst/>
              <a:ahLst/>
              <a:cxnLst/>
              <a:rect l="l" t="t" r="r" b="b"/>
              <a:pathLst>
                <a:path w="1396623" h="2303531">
                  <a:moveTo>
                    <a:pt x="0" y="0"/>
                  </a:moveTo>
                  <a:lnTo>
                    <a:pt x="1396623" y="0"/>
                  </a:lnTo>
                  <a:lnTo>
                    <a:pt x="1396623" y="2303531"/>
                  </a:lnTo>
                  <a:lnTo>
                    <a:pt x="0" y="2303531"/>
                  </a:lnTo>
                  <a:close/>
                </a:path>
              </a:pathLst>
            </a:custGeom>
            <a:blipFill>
              <a:blip r:embed="rId2"/>
              <a:stretch>
                <a:fillRect l="-73701" r="-7370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14543" y="6199739"/>
            <a:ext cx="5909932" cy="931922"/>
            <a:chOff x="0" y="-19051"/>
            <a:chExt cx="7879909" cy="1242563"/>
          </a:xfrm>
        </p:grpSpPr>
        <p:sp>
          <p:nvSpPr>
            <p:cNvPr id="13" name="TextBox 13"/>
            <p:cNvSpPr txBox="1"/>
            <p:nvPr/>
          </p:nvSpPr>
          <p:spPr>
            <a:xfrm>
              <a:off x="651871" y="-19051"/>
              <a:ext cx="7228038" cy="12425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29"/>
                </a:lnSpc>
              </a:pPr>
              <a:r>
                <a:rPr lang="en-US" sz="3007" dirty="0">
                  <a:solidFill>
                    <a:srgbClr val="7D4833"/>
                  </a:solidFill>
                  <a:latin typeface="Assistant"/>
                  <a:ea typeface="Assistant"/>
                  <a:cs typeface="Assistant"/>
                  <a:sym typeface="Assistant"/>
                </a:rPr>
                <a:t>Peak revenue occurs in the morning (8 am – 10 am)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122454"/>
              <a:ext cx="463386" cy="551083"/>
            </a:xfrm>
            <a:custGeom>
              <a:avLst/>
              <a:gdLst/>
              <a:ahLst/>
              <a:cxnLst/>
              <a:rect l="l" t="t" r="r" b="b"/>
              <a:pathLst>
                <a:path w="463386" h="551083">
                  <a:moveTo>
                    <a:pt x="0" y="0"/>
                  </a:moveTo>
                  <a:lnTo>
                    <a:pt x="463386" y="0"/>
                  </a:lnTo>
                  <a:lnTo>
                    <a:pt x="463386" y="551083"/>
                  </a:lnTo>
                  <a:lnTo>
                    <a:pt x="0" y="551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82" r="-208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714543" y="7360706"/>
            <a:ext cx="6412629" cy="820738"/>
            <a:chOff x="0" y="28575"/>
            <a:chExt cx="8550172" cy="1094316"/>
          </a:xfrm>
        </p:grpSpPr>
        <p:sp>
          <p:nvSpPr>
            <p:cNvPr id="16" name="TextBox 16"/>
            <p:cNvSpPr txBox="1"/>
            <p:nvPr/>
          </p:nvSpPr>
          <p:spPr>
            <a:xfrm>
              <a:off x="527756" y="28575"/>
              <a:ext cx="8022416" cy="109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8"/>
                </a:lnSpc>
              </a:pPr>
              <a:r>
                <a:rPr lang="en-US" sz="3007" dirty="0">
                  <a:solidFill>
                    <a:srgbClr val="7D4833"/>
                  </a:solidFill>
                  <a:latin typeface="Assistant"/>
                  <a:ea typeface="Assistant"/>
                  <a:cs typeface="Assistant"/>
                  <a:sym typeface="Assistant"/>
                </a:rPr>
                <a:t>Sharp drop after 10 am</a:t>
              </a:r>
            </a:p>
            <a:p>
              <a:pPr algn="l">
                <a:lnSpc>
                  <a:spcPts val="3248"/>
                </a:lnSpc>
              </a:pPr>
              <a:r>
                <a:rPr lang="en-US" sz="3007" dirty="0">
                  <a:solidFill>
                    <a:srgbClr val="7D4833"/>
                  </a:solidFill>
                  <a:latin typeface="Assistant"/>
                  <a:ea typeface="Assistant"/>
                  <a:cs typeface="Assistant"/>
                  <a:sym typeface="Assistant"/>
                </a:rPr>
                <a:t>Morning rush ends quickly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122454"/>
              <a:ext cx="375158" cy="551083"/>
            </a:xfrm>
            <a:custGeom>
              <a:avLst/>
              <a:gdLst/>
              <a:ahLst/>
              <a:cxnLst/>
              <a:rect l="l" t="t" r="r" b="b"/>
              <a:pathLst>
                <a:path w="375158" h="551083">
                  <a:moveTo>
                    <a:pt x="0" y="0"/>
                  </a:moveTo>
                  <a:lnTo>
                    <a:pt x="375158" y="0"/>
                  </a:lnTo>
                  <a:lnTo>
                    <a:pt x="375158" y="551083"/>
                  </a:lnTo>
                  <a:lnTo>
                    <a:pt x="0" y="551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330" r="-143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714543" y="8067642"/>
            <a:ext cx="6412629" cy="820738"/>
            <a:chOff x="0" y="28575"/>
            <a:chExt cx="8550172" cy="1094316"/>
          </a:xfrm>
        </p:grpSpPr>
        <p:sp>
          <p:nvSpPr>
            <p:cNvPr id="19" name="TextBox 19"/>
            <p:cNvSpPr txBox="1"/>
            <p:nvPr/>
          </p:nvSpPr>
          <p:spPr>
            <a:xfrm>
              <a:off x="527756" y="28575"/>
              <a:ext cx="8022416" cy="10943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8"/>
                </a:lnSpc>
              </a:pPr>
              <a:r>
                <a:rPr lang="en-US" sz="3007" dirty="0">
                  <a:solidFill>
                    <a:srgbClr val="7D4833"/>
                  </a:solidFill>
                  <a:latin typeface="Assistant"/>
                  <a:ea typeface="Assistant"/>
                  <a:cs typeface="Assistant"/>
                  <a:sym typeface="Assistant"/>
                </a:rPr>
                <a:t>Midday is stable but moderate (12 pm – 4 pm)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22454"/>
              <a:ext cx="375158" cy="551083"/>
            </a:xfrm>
            <a:custGeom>
              <a:avLst/>
              <a:gdLst/>
              <a:ahLst/>
              <a:cxnLst/>
              <a:rect l="l" t="t" r="r" b="b"/>
              <a:pathLst>
                <a:path w="375158" h="551083">
                  <a:moveTo>
                    <a:pt x="0" y="0"/>
                  </a:moveTo>
                  <a:lnTo>
                    <a:pt x="375158" y="0"/>
                  </a:lnTo>
                  <a:lnTo>
                    <a:pt x="375158" y="551083"/>
                  </a:lnTo>
                  <a:lnTo>
                    <a:pt x="0" y="551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330" r="-143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14543" y="8774578"/>
            <a:ext cx="6412629" cy="483722"/>
            <a:chOff x="0" y="28575"/>
            <a:chExt cx="8550172" cy="644962"/>
          </a:xfrm>
        </p:grpSpPr>
        <p:sp>
          <p:nvSpPr>
            <p:cNvPr id="22" name="TextBox 22"/>
            <p:cNvSpPr txBox="1"/>
            <p:nvPr/>
          </p:nvSpPr>
          <p:spPr>
            <a:xfrm>
              <a:off x="527756" y="28575"/>
              <a:ext cx="8022416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48"/>
                </a:lnSpc>
              </a:pPr>
              <a:r>
                <a:rPr lang="en-US" sz="3007" dirty="0">
                  <a:solidFill>
                    <a:srgbClr val="7D4833"/>
                  </a:solidFill>
                  <a:latin typeface="Assistant"/>
                  <a:ea typeface="Assistant"/>
                  <a:cs typeface="Assistant"/>
                  <a:sym typeface="Assistant"/>
                </a:rPr>
                <a:t>Evening decline (5 pm – 8 pm)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122454"/>
              <a:ext cx="375158" cy="551083"/>
            </a:xfrm>
            <a:custGeom>
              <a:avLst/>
              <a:gdLst/>
              <a:ahLst/>
              <a:cxnLst/>
              <a:rect l="l" t="t" r="r" b="b"/>
              <a:pathLst>
                <a:path w="375158" h="551083">
                  <a:moveTo>
                    <a:pt x="0" y="0"/>
                  </a:moveTo>
                  <a:lnTo>
                    <a:pt x="375158" y="0"/>
                  </a:lnTo>
                  <a:lnTo>
                    <a:pt x="375158" y="551083"/>
                  </a:lnTo>
                  <a:lnTo>
                    <a:pt x="0" y="551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330" r="-143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/>
          <p:cNvSpPr/>
          <p:nvPr/>
        </p:nvSpPr>
        <p:spPr>
          <a:xfrm flipH="1">
            <a:off x="8191976" y="0"/>
            <a:ext cx="4155704" cy="1872154"/>
          </a:xfrm>
          <a:custGeom>
            <a:avLst/>
            <a:gdLst/>
            <a:ahLst/>
            <a:cxnLst/>
            <a:rect l="l" t="t" r="r" b="b"/>
            <a:pathLst>
              <a:path w="4155704" h="1872154">
                <a:moveTo>
                  <a:pt x="4155704" y="0"/>
                </a:moveTo>
                <a:lnTo>
                  <a:pt x="0" y="0"/>
                </a:lnTo>
                <a:lnTo>
                  <a:pt x="0" y="1872154"/>
                </a:lnTo>
                <a:lnTo>
                  <a:pt x="4155704" y="1872154"/>
                </a:lnTo>
                <a:lnTo>
                  <a:pt x="4155704" y="0"/>
                </a:lnTo>
                <a:close/>
              </a:path>
            </a:pathLst>
          </a:custGeom>
          <a:blipFill>
            <a:blip r:embed="rId4"/>
            <a:stretch>
              <a:fillRect t="-138915" r="-72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-360711" y="9496089"/>
            <a:ext cx="1254036" cy="1431747"/>
          </a:xfrm>
          <a:custGeom>
            <a:avLst/>
            <a:gdLst/>
            <a:ahLst/>
            <a:cxnLst/>
            <a:rect l="l" t="t" r="r" b="b"/>
            <a:pathLst>
              <a:path w="1254036" h="1431747">
                <a:moveTo>
                  <a:pt x="0" y="0"/>
                </a:moveTo>
                <a:lnTo>
                  <a:pt x="1254036" y="0"/>
                </a:lnTo>
                <a:lnTo>
                  <a:pt x="1254036" y="1431747"/>
                </a:lnTo>
                <a:lnTo>
                  <a:pt x="0" y="1431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6830743" y="1224622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08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14543" y="2629314"/>
            <a:ext cx="6544757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7123" b="1" dirty="0">
                <a:solidFill>
                  <a:srgbClr val="7D4833"/>
                </a:solidFill>
                <a:latin typeface="Assistant Bold"/>
                <a:ea typeface="Assistant Bold"/>
                <a:cs typeface="Assistant Bold"/>
                <a:sym typeface="Assistant Bold"/>
              </a:rPr>
              <a:t>Insight</a:t>
            </a: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20928046-8522-1949-DF2D-CBF1BBB211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557453"/>
              </p:ext>
            </p:extLst>
          </p:nvPr>
        </p:nvGraphicFramePr>
        <p:xfrm>
          <a:off x="893324" y="3743985"/>
          <a:ext cx="9546075" cy="6123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73965" y="1028700"/>
            <a:ext cx="2835229" cy="843454"/>
            <a:chOff x="0" y="0"/>
            <a:chExt cx="664771" cy="1977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4771" cy="197763"/>
            </a:xfrm>
            <a:custGeom>
              <a:avLst/>
              <a:gdLst/>
              <a:ahLst/>
              <a:cxnLst/>
              <a:rect l="l" t="t" r="r" b="b"/>
              <a:pathLst>
                <a:path w="664771" h="197763">
                  <a:moveTo>
                    <a:pt x="98882" y="0"/>
                  </a:moveTo>
                  <a:lnTo>
                    <a:pt x="565889" y="0"/>
                  </a:lnTo>
                  <a:cubicBezTo>
                    <a:pt x="620500" y="0"/>
                    <a:pt x="664771" y="44271"/>
                    <a:pt x="664771" y="98882"/>
                  </a:cubicBezTo>
                  <a:lnTo>
                    <a:pt x="664771" y="98882"/>
                  </a:lnTo>
                  <a:cubicBezTo>
                    <a:pt x="664771" y="153492"/>
                    <a:pt x="620500" y="197763"/>
                    <a:pt x="565889" y="197763"/>
                  </a:cubicBezTo>
                  <a:lnTo>
                    <a:pt x="98882" y="197763"/>
                  </a:lnTo>
                  <a:cubicBezTo>
                    <a:pt x="44271" y="197763"/>
                    <a:pt x="0" y="153492"/>
                    <a:pt x="0" y="98882"/>
                  </a:cubicBezTo>
                  <a:lnTo>
                    <a:pt x="0" y="98882"/>
                  </a:lnTo>
                  <a:cubicBezTo>
                    <a:pt x="0" y="44271"/>
                    <a:pt x="44271" y="0"/>
                    <a:pt x="98882" y="0"/>
                  </a:cubicBezTo>
                  <a:close/>
                </a:path>
              </a:pathLst>
            </a:custGeom>
            <a:ln w="19050" cap="rnd">
              <a:solidFill>
                <a:srgbClr val="7D48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64771" cy="254913"/>
            </a:xfrm>
            <a:prstGeom prst="rect">
              <a:avLst/>
            </a:prstGeom>
          </p:spPr>
          <p:txBody>
            <a:bodyPr lIns="57063" tIns="57063" rIns="57063" bIns="5706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015054" cy="10287000"/>
            <a:chOff x="0" y="0"/>
            <a:chExt cx="2374335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74335" cy="2709333"/>
            </a:xfrm>
            <a:custGeom>
              <a:avLst/>
              <a:gdLst/>
              <a:ahLst/>
              <a:cxnLst/>
              <a:rect l="l" t="t" r="r" b="b"/>
              <a:pathLst>
                <a:path w="2374335" h="2709333">
                  <a:moveTo>
                    <a:pt x="0" y="0"/>
                  </a:moveTo>
                  <a:lnTo>
                    <a:pt x="2374335" y="0"/>
                  </a:lnTo>
                  <a:lnTo>
                    <a:pt x="23743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D483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374335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72946" y="4914900"/>
            <a:ext cx="9015054" cy="5372100"/>
            <a:chOff x="0" y="0"/>
            <a:chExt cx="2681823" cy="16192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1823" cy="1619232"/>
            </a:xfrm>
            <a:custGeom>
              <a:avLst/>
              <a:gdLst/>
              <a:ahLst/>
              <a:cxnLst/>
              <a:rect l="l" t="t" r="r" b="b"/>
              <a:pathLst>
                <a:path w="2681823" h="1619232">
                  <a:moveTo>
                    <a:pt x="0" y="0"/>
                  </a:moveTo>
                  <a:lnTo>
                    <a:pt x="2681823" y="0"/>
                  </a:lnTo>
                  <a:lnTo>
                    <a:pt x="2681823" y="1619232"/>
                  </a:lnTo>
                  <a:lnTo>
                    <a:pt x="0" y="1619232"/>
                  </a:lnTo>
                  <a:close/>
                </a:path>
              </a:pathLst>
            </a:custGeom>
            <a:blipFill>
              <a:blip r:embed="rId2"/>
              <a:stretch>
                <a:fillRect t="-5242" b="-52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-1049152" y="0"/>
            <a:ext cx="4155704" cy="1872154"/>
          </a:xfrm>
          <a:custGeom>
            <a:avLst/>
            <a:gdLst/>
            <a:ahLst/>
            <a:cxnLst/>
            <a:rect l="l" t="t" r="r" b="b"/>
            <a:pathLst>
              <a:path w="4155704" h="1872154">
                <a:moveTo>
                  <a:pt x="4155704" y="0"/>
                </a:moveTo>
                <a:lnTo>
                  <a:pt x="0" y="0"/>
                </a:lnTo>
                <a:lnTo>
                  <a:pt x="0" y="1872154"/>
                </a:lnTo>
                <a:lnTo>
                  <a:pt x="4155704" y="1872154"/>
                </a:lnTo>
                <a:lnTo>
                  <a:pt x="4155704" y="0"/>
                </a:lnTo>
                <a:close/>
              </a:path>
            </a:pathLst>
          </a:custGeom>
          <a:blipFill>
            <a:blip r:embed="rId3"/>
            <a:stretch>
              <a:fillRect t="-138915" r="-72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H="1" flipV="1">
            <a:off x="13480728" y="-1109044"/>
            <a:ext cx="1540137" cy="1758392"/>
          </a:xfrm>
          <a:custGeom>
            <a:avLst/>
            <a:gdLst/>
            <a:ahLst/>
            <a:cxnLst/>
            <a:rect l="l" t="t" r="r" b="b"/>
            <a:pathLst>
              <a:path w="1540137" h="1758392">
                <a:moveTo>
                  <a:pt x="1540138" y="1758392"/>
                </a:moveTo>
                <a:lnTo>
                  <a:pt x="0" y="1758392"/>
                </a:lnTo>
                <a:lnTo>
                  <a:pt x="0" y="0"/>
                </a:lnTo>
                <a:lnTo>
                  <a:pt x="1540138" y="0"/>
                </a:lnTo>
                <a:lnTo>
                  <a:pt x="1540138" y="1758392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6830743" y="1224622"/>
            <a:ext cx="857115" cy="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8"/>
              </a:lnSpc>
              <a:spcBef>
                <a:spcPct val="0"/>
              </a:spcBef>
            </a:pPr>
            <a:r>
              <a:rPr lang="en-US" sz="247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3065" y="1256319"/>
            <a:ext cx="4469954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7123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ssistant Bold"/>
                <a:ea typeface="Assistant Bold"/>
                <a:cs typeface="Assistant Bold"/>
                <a:sym typeface="Assistant Bold"/>
              </a:rPr>
              <a:t>Bucket Spenders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77400" y="1614780"/>
            <a:ext cx="6359342" cy="333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4000" b="1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Insight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Low Spenders generate the most revenue across all  locations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Higher Spenders are fewer but still important.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Lower Manhattan attracts more premium customers.</a:t>
            </a:r>
          </a:p>
          <a:p>
            <a:pPr algn="l">
              <a:lnSpc>
                <a:spcPts val="2903"/>
              </a:lnSpc>
            </a:pPr>
            <a:r>
              <a:rPr lang="en-US" sz="2322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Potential for luxury or premium offerings in that location.</a:t>
            </a:r>
          </a:p>
          <a:p>
            <a:pPr algn="l">
              <a:lnSpc>
                <a:spcPts val="2903"/>
              </a:lnSpc>
            </a:pPr>
            <a:endParaRPr lang="en-US" sz="2322" dirty="0">
              <a:solidFill>
                <a:srgbClr val="7D4833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7ABBE514-6034-AEDE-920B-EF2DE49A86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5065037"/>
              </p:ext>
            </p:extLst>
          </p:nvPr>
        </p:nvGraphicFramePr>
        <p:xfrm>
          <a:off x="137282" y="3784560"/>
          <a:ext cx="8877771" cy="5944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FD116CA2-9FAF-558D-2C52-D93EEB424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00853" flipV="1">
            <a:off x="12089642" y="-4497095"/>
            <a:ext cx="8163150" cy="8193877"/>
          </a:xfrm>
          <a:custGeom>
            <a:avLst/>
            <a:gdLst/>
            <a:ahLst/>
            <a:cxnLst/>
            <a:rect l="l" t="t" r="r" b="b"/>
            <a:pathLst>
              <a:path w="8163150" h="8193877">
                <a:moveTo>
                  <a:pt x="0" y="8193877"/>
                </a:moveTo>
                <a:lnTo>
                  <a:pt x="8163150" y="8193877"/>
                </a:lnTo>
                <a:lnTo>
                  <a:pt x="8163150" y="0"/>
                </a:lnTo>
                <a:lnTo>
                  <a:pt x="0" y="0"/>
                </a:lnTo>
                <a:lnTo>
                  <a:pt x="0" y="819387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700853" flipV="1">
            <a:off x="767677" y="7829102"/>
            <a:ext cx="7607692" cy="7636328"/>
          </a:xfrm>
          <a:custGeom>
            <a:avLst/>
            <a:gdLst/>
            <a:ahLst/>
            <a:cxnLst/>
            <a:rect l="l" t="t" r="r" b="b"/>
            <a:pathLst>
              <a:path w="7607692" h="7636328">
                <a:moveTo>
                  <a:pt x="0" y="7636329"/>
                </a:moveTo>
                <a:lnTo>
                  <a:pt x="7607692" y="7636329"/>
                </a:lnTo>
                <a:lnTo>
                  <a:pt x="7607692" y="0"/>
                </a:lnTo>
                <a:lnTo>
                  <a:pt x="0" y="0"/>
                </a:lnTo>
                <a:lnTo>
                  <a:pt x="0" y="763632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1028700"/>
            <a:ext cx="516067" cy="530536"/>
          </a:xfrm>
          <a:custGeom>
            <a:avLst/>
            <a:gdLst/>
            <a:ahLst/>
            <a:cxnLst/>
            <a:rect l="l" t="t" r="r" b="b"/>
            <a:pathLst>
              <a:path w="516067" h="530536">
                <a:moveTo>
                  <a:pt x="0" y="0"/>
                </a:moveTo>
                <a:lnTo>
                  <a:pt x="516067" y="0"/>
                </a:lnTo>
                <a:lnTo>
                  <a:pt x="516067" y="530536"/>
                </a:lnTo>
                <a:lnTo>
                  <a:pt x="0" y="530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1914116"/>
            <a:ext cx="10262251" cy="138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73"/>
              </a:lnSpc>
            </a:pPr>
            <a:r>
              <a:rPr lang="en-US" sz="6600" dirty="0">
                <a:solidFill>
                  <a:srgbClr val="7D4833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2424" y="1091672"/>
            <a:ext cx="3205883" cy="530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430"/>
              </a:lnSpc>
              <a:spcBef>
                <a:spcPct val="0"/>
              </a:spcBef>
            </a:pPr>
            <a:r>
              <a:rPr lang="en-US" sz="3164" b="1" dirty="0">
                <a:solidFill>
                  <a:srgbClr val="7D4833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Bright Coffee Shop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1155" y="3806175"/>
            <a:ext cx="11155645" cy="29100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9"/>
              </a:lnSpc>
              <a:spcBef>
                <a:spcPct val="0"/>
              </a:spcBef>
            </a:pPr>
            <a:r>
              <a:rPr lang="en-US" sz="3200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Focus on top-selling products (coffee &amp; tea).</a:t>
            </a:r>
          </a:p>
          <a:p>
            <a:pPr>
              <a:lnSpc>
                <a:spcPts val="4559"/>
              </a:lnSpc>
              <a:spcBef>
                <a:spcPct val="0"/>
              </a:spcBef>
            </a:pPr>
            <a:r>
              <a:rPr lang="en-US" sz="3200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Increase average order value through bundles and upselling.</a:t>
            </a:r>
          </a:p>
          <a:p>
            <a:pPr>
              <a:lnSpc>
                <a:spcPts val="4559"/>
              </a:lnSpc>
              <a:spcBef>
                <a:spcPct val="0"/>
              </a:spcBef>
            </a:pPr>
            <a:r>
              <a:rPr lang="en-US" sz="3200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Convert low spenders into higher spenders</a:t>
            </a:r>
          </a:p>
          <a:p>
            <a:pPr>
              <a:lnSpc>
                <a:spcPts val="4559"/>
              </a:lnSpc>
              <a:spcBef>
                <a:spcPct val="0"/>
              </a:spcBef>
            </a:pPr>
            <a:r>
              <a:rPr lang="en-US" sz="3200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Maximize morning peak hours (8-10 am).</a:t>
            </a:r>
          </a:p>
          <a:p>
            <a:pPr>
              <a:lnSpc>
                <a:spcPts val="4559"/>
              </a:lnSpc>
              <a:spcBef>
                <a:spcPct val="0"/>
              </a:spcBef>
            </a:pPr>
            <a:r>
              <a:rPr lang="en-US" sz="3200" dirty="0">
                <a:solidFill>
                  <a:srgbClr val="7D4833"/>
                </a:solidFill>
                <a:latin typeface="Assistant"/>
                <a:ea typeface="Assistant"/>
                <a:cs typeface="Assistant"/>
                <a:sym typeface="Assistant"/>
              </a:rPr>
              <a:t>Improve evening sales with promotions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36AE96-C87E-4B23-A119-40E647753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58ABDB1-5540-2A88-BA68-DE0EB6BD1EAE}"/>
              </a:ext>
            </a:extLst>
          </p:cNvPr>
          <p:cNvSpPr/>
          <p:nvPr/>
        </p:nvSpPr>
        <p:spPr>
          <a:xfrm rot="1700853" flipV="1">
            <a:off x="12089642" y="-4497095"/>
            <a:ext cx="8163150" cy="8193877"/>
          </a:xfrm>
          <a:custGeom>
            <a:avLst/>
            <a:gdLst/>
            <a:ahLst/>
            <a:cxnLst/>
            <a:rect l="l" t="t" r="r" b="b"/>
            <a:pathLst>
              <a:path w="8163150" h="8193877">
                <a:moveTo>
                  <a:pt x="0" y="8193877"/>
                </a:moveTo>
                <a:lnTo>
                  <a:pt x="8163150" y="8193877"/>
                </a:lnTo>
                <a:lnTo>
                  <a:pt x="8163150" y="0"/>
                </a:lnTo>
                <a:lnTo>
                  <a:pt x="0" y="0"/>
                </a:lnTo>
                <a:lnTo>
                  <a:pt x="0" y="819387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CD1BF33-4888-AB39-AF76-5F8B3D1A4DE0}"/>
              </a:ext>
            </a:extLst>
          </p:cNvPr>
          <p:cNvSpPr/>
          <p:nvPr/>
        </p:nvSpPr>
        <p:spPr>
          <a:xfrm rot="1700853" flipV="1">
            <a:off x="767677" y="7829102"/>
            <a:ext cx="7607692" cy="7636328"/>
          </a:xfrm>
          <a:custGeom>
            <a:avLst/>
            <a:gdLst/>
            <a:ahLst/>
            <a:cxnLst/>
            <a:rect l="l" t="t" r="r" b="b"/>
            <a:pathLst>
              <a:path w="7607692" h="7636328">
                <a:moveTo>
                  <a:pt x="0" y="7636329"/>
                </a:moveTo>
                <a:lnTo>
                  <a:pt x="7607692" y="7636329"/>
                </a:lnTo>
                <a:lnTo>
                  <a:pt x="7607692" y="0"/>
                </a:lnTo>
                <a:lnTo>
                  <a:pt x="0" y="0"/>
                </a:lnTo>
                <a:lnTo>
                  <a:pt x="0" y="763632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3A02D1-C2BA-CBFC-0E8B-0FB602B60DC8}"/>
              </a:ext>
            </a:extLst>
          </p:cNvPr>
          <p:cNvSpPr/>
          <p:nvPr/>
        </p:nvSpPr>
        <p:spPr>
          <a:xfrm>
            <a:off x="1028700" y="1028700"/>
            <a:ext cx="516067" cy="530536"/>
          </a:xfrm>
          <a:custGeom>
            <a:avLst/>
            <a:gdLst/>
            <a:ahLst/>
            <a:cxnLst/>
            <a:rect l="l" t="t" r="r" b="b"/>
            <a:pathLst>
              <a:path w="516067" h="530536">
                <a:moveTo>
                  <a:pt x="0" y="0"/>
                </a:moveTo>
                <a:lnTo>
                  <a:pt x="516067" y="0"/>
                </a:lnTo>
                <a:lnTo>
                  <a:pt x="516067" y="530536"/>
                </a:lnTo>
                <a:lnTo>
                  <a:pt x="0" y="5305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5DCBB5-15DC-4D9A-B966-9D7EAEBB74A1}"/>
              </a:ext>
            </a:extLst>
          </p:cNvPr>
          <p:cNvSpPr txBox="1"/>
          <p:nvPr/>
        </p:nvSpPr>
        <p:spPr>
          <a:xfrm>
            <a:off x="1028700" y="1914116"/>
            <a:ext cx="10262251" cy="479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73"/>
              </a:lnSpc>
            </a:pPr>
            <a:r>
              <a:rPr lang="en-US" sz="10884" dirty="0">
                <a:solidFill>
                  <a:srgbClr val="7D4833"/>
                </a:solidFill>
                <a:latin typeface="Copperplate Gothic 32 AB Bold"/>
                <a:ea typeface="Copperplate Gothic 32 AB Bold"/>
                <a:cs typeface="Copperplate Gothic 32 AB Bold"/>
                <a:sym typeface="Copperplate Gothic 32 AB Bold"/>
              </a:rPr>
              <a:t>LET’S BREW TOGETHER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75D5FA6-557B-E05E-D27E-3DCD2A949099}"/>
              </a:ext>
            </a:extLst>
          </p:cNvPr>
          <p:cNvSpPr txBox="1"/>
          <p:nvPr/>
        </p:nvSpPr>
        <p:spPr>
          <a:xfrm>
            <a:off x="1442317" y="1026373"/>
            <a:ext cx="3358283" cy="5328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430"/>
              </a:lnSpc>
              <a:spcBef>
                <a:spcPct val="0"/>
              </a:spcBef>
            </a:pPr>
            <a:r>
              <a:rPr lang="en-US" sz="3164" b="1" dirty="0">
                <a:solidFill>
                  <a:srgbClr val="7D4833"/>
                </a:solidFill>
                <a:latin typeface="Assistant Semi-Bold"/>
                <a:ea typeface="Assistant Semi-Bold"/>
                <a:cs typeface="Assistant Semi-Bold"/>
                <a:sym typeface="Assistant Semi-Bold"/>
              </a:rPr>
              <a:t>Bright Coffee Shop</a:t>
            </a:r>
          </a:p>
        </p:txBody>
      </p:sp>
    </p:spTree>
    <p:extLst>
      <p:ext uri="{BB962C8B-B14F-4D97-AF65-F5344CB8AC3E}">
        <p14:creationId xmlns:p14="http://schemas.microsoft.com/office/powerpoint/2010/main" val="1832378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Assistant Bold</vt:lpstr>
      <vt:lpstr>Arial</vt:lpstr>
      <vt:lpstr>Assistant Semi-Bold</vt:lpstr>
      <vt:lpstr>Copperplate Gothic 32 AB Bold</vt:lpstr>
      <vt:lpstr>Calibri</vt:lpstr>
      <vt:lpstr>Assistant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Playful Coffee Shop Presentation</dc:title>
  <dc:creator>Principal @ Kwarhole Senior Primary School</dc:creator>
  <cp:lastModifiedBy>Principal @ Kwarhole Senior Primary School</cp:lastModifiedBy>
  <cp:revision>5</cp:revision>
  <dcterms:created xsi:type="dcterms:W3CDTF">2006-08-16T00:00:00Z</dcterms:created>
  <dcterms:modified xsi:type="dcterms:W3CDTF">2026-03-31T16:30:37Z</dcterms:modified>
  <dc:identifier>DAHFeMwEjDQ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900fedf-9168-4eee-9a24-49c824c30928_Enabled">
    <vt:lpwstr>true</vt:lpwstr>
  </property>
  <property fmtid="{D5CDD505-2E9C-101B-9397-08002B2CF9AE}" pid="3" name="MSIP_Label_a900fedf-9168-4eee-9a24-49c824c30928_SetDate">
    <vt:lpwstr>2026-03-31T16:30:37Z</vt:lpwstr>
  </property>
  <property fmtid="{D5CDD505-2E9C-101B-9397-08002B2CF9AE}" pid="4" name="MSIP_Label_a900fedf-9168-4eee-9a24-49c824c30928_Method">
    <vt:lpwstr>Standard</vt:lpwstr>
  </property>
  <property fmtid="{D5CDD505-2E9C-101B-9397-08002B2CF9AE}" pid="5" name="MSIP_Label_a900fedf-9168-4eee-9a24-49c824c30928_Name">
    <vt:lpwstr>defa4170-0d19-0005-0004-bc88714345d2</vt:lpwstr>
  </property>
  <property fmtid="{D5CDD505-2E9C-101B-9397-08002B2CF9AE}" pid="6" name="MSIP_Label_a900fedf-9168-4eee-9a24-49c824c30928_SiteId">
    <vt:lpwstr>213a6ffd-8132-4e6c-be0a-e66871ad406b</vt:lpwstr>
  </property>
  <property fmtid="{D5CDD505-2E9C-101B-9397-08002B2CF9AE}" pid="7" name="MSIP_Label_a900fedf-9168-4eee-9a24-49c824c30928_ActionId">
    <vt:lpwstr>7d741bcd-be54-4c3b-a1ec-a9da7f1e5d74</vt:lpwstr>
  </property>
  <property fmtid="{D5CDD505-2E9C-101B-9397-08002B2CF9AE}" pid="8" name="MSIP_Label_a900fedf-9168-4eee-9a24-49c824c30928_ContentBits">
    <vt:lpwstr>0</vt:lpwstr>
  </property>
  <property fmtid="{D5CDD505-2E9C-101B-9397-08002B2CF9AE}" pid="9" name="MSIP_Label_a900fedf-9168-4eee-9a24-49c824c30928_Tag">
    <vt:lpwstr>10, 3, 0, 1</vt:lpwstr>
  </property>
</Properties>
</file>